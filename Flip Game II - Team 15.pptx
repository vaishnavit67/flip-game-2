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82" r:id="rId12"/>
    <p:sldId id="267" r:id="rId13"/>
    <p:sldId id="268" r:id="rId14"/>
    <p:sldId id="269" r:id="rId15"/>
    <p:sldId id="276" r:id="rId16"/>
    <p:sldId id="277" r:id="rId17"/>
    <p:sldId id="278" r:id="rId18"/>
    <p:sldId id="279" r:id="rId19"/>
    <p:sldId id="280" r:id="rId20"/>
  </p:sldIdLst>
  <p:sldSz cx="18288000" cy="10287000"/>
  <p:notesSz cx="6858000" cy="9144000"/>
  <p:embeddedFontLst>
    <p:embeddedFont>
      <p:font typeface="TT Ramillas" panose="020E0000080000020004"/>
      <p:regular r:id="rId24"/>
    </p:embeddedFont>
    <p:embeddedFont>
      <p:font typeface="TT Interphases" panose="02000503020000020004"/>
      <p:regular r:id="rId25"/>
    </p:embeddedFont>
    <p:embeddedFont>
      <p:font typeface="TT Interphases Bold" panose="02000803060000020004"/>
      <p:bold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 userDrawn="1">
          <p15:clr>
            <a:srgbClr val="A4A3A4"/>
          </p15:clr>
        </p15:guide>
        <p15:guide id="2" pos="28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5"/>
        <p:guide pos="288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font" Target="fonts/font7.fntdata"/><Relationship Id="rId3" Type="http://schemas.openxmlformats.org/officeDocument/2006/relationships/slide" Target="slides/slide1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4.png"/><Relationship Id="rId2" Type="http://schemas.openxmlformats.org/officeDocument/2006/relationships/tags" Target="../tags/tag2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9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0.jpe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D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29875" y="8839200"/>
            <a:ext cx="7191375" cy="0"/>
          </a:xfrm>
          <a:prstGeom prst="line">
            <a:avLst/>
          </a:prstGeom>
          <a:ln w="19050" cap="flat">
            <a:solidFill>
              <a:srgbClr val="21252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9296400" cy="10287000"/>
            <a:chOff x="0" y="0"/>
            <a:chExt cx="1440256" cy="15937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40256" cy="1593725"/>
            </a:xfrm>
            <a:custGeom>
              <a:avLst/>
              <a:gdLst/>
              <a:ahLst/>
              <a:cxnLst/>
              <a:rect l="l" t="t" r="r" b="b"/>
              <a:pathLst>
                <a:path w="1440256" h="1593725">
                  <a:moveTo>
                    <a:pt x="0" y="0"/>
                  </a:moveTo>
                  <a:lnTo>
                    <a:pt x="1440256" y="0"/>
                  </a:lnTo>
                  <a:lnTo>
                    <a:pt x="1440256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1"/>
              <a:stretch>
                <a:fillRect t="-66" b="-66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0">
            <a:off x="10734675" y="6040897"/>
            <a:ext cx="6886575" cy="2074403"/>
            <a:chOff x="0" y="0"/>
            <a:chExt cx="9182100" cy="2765871"/>
          </a:xfrm>
        </p:grpSpPr>
        <p:sp>
          <p:nvSpPr>
            <p:cNvPr id="6" name="TextBox 6"/>
            <p:cNvSpPr txBox="1"/>
            <p:nvPr/>
          </p:nvSpPr>
          <p:spPr>
            <a:xfrm>
              <a:off x="0" y="190500"/>
              <a:ext cx="9182100" cy="18372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000"/>
                </a:lnSpc>
              </a:pPr>
              <a:r>
                <a:rPr lang="en-US" sz="10000" spc="-199">
                  <a:solidFill>
                    <a:srgbClr val="212529"/>
                  </a:solidFill>
                  <a:latin typeface="TT Ramillas" panose="020E0000080000020004"/>
                  <a:ea typeface="TT Ramillas" panose="020E0000080000020004"/>
                  <a:cs typeface="TT Ramillas" panose="020E0000080000020004"/>
                  <a:sym typeface="TT Ramillas" panose="020E0000080000020004"/>
                </a:rPr>
                <a:t>FLIP</a:t>
              </a:r>
              <a:endParaRPr lang="en-US" sz="10000" spc="-199">
                <a:solidFill>
                  <a:srgbClr val="212529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165584"/>
              <a:ext cx="9182100" cy="6002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800" spc="139">
                  <a:solidFill>
                    <a:srgbClr val="212529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SIMON TATHAMS</a:t>
              </a:r>
              <a:endParaRPr lang="en-US" sz="2800" spc="139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D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56340" y="0"/>
            <a:ext cx="7631660" cy="10287000"/>
          </a:xfrm>
          <a:custGeom>
            <a:avLst/>
            <a:gdLst/>
            <a:ahLst/>
            <a:cxnLst/>
            <a:rect l="l" t="t" r="r" b="b"/>
            <a:pathLst>
              <a:path w="7631660" h="10287000">
                <a:moveTo>
                  <a:pt x="0" y="0"/>
                </a:moveTo>
                <a:lnTo>
                  <a:pt x="7631660" y="0"/>
                </a:lnTo>
                <a:lnTo>
                  <a:pt x="763166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1162" r="-1116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5413311"/>
            <a:ext cx="8769062" cy="2040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The Flip Game challenges players to turn all tiles on an N×N grid to the same state through strategic moves, utilizing a modern, interactive JavaFX interface for engaging gameplay.</a:t>
            </a:r>
            <a:endParaRPr lang="en-US" sz="29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</p:txBody>
      </p:sp>
      <p:grpSp>
        <p:nvGrpSpPr>
          <p:cNvPr id="4" name="Group 4"/>
          <p:cNvGrpSpPr/>
          <p:nvPr/>
        </p:nvGrpSpPr>
        <p:grpSpPr>
          <a:xfrm rot="0">
            <a:off x="697393" y="2722526"/>
            <a:ext cx="9100370" cy="2262504"/>
            <a:chOff x="0" y="0"/>
            <a:chExt cx="12133826" cy="3016672"/>
          </a:xfrm>
        </p:grpSpPr>
        <p:sp>
          <p:nvSpPr>
            <p:cNvPr id="5" name="TextBox 5"/>
            <p:cNvSpPr txBox="1"/>
            <p:nvPr/>
          </p:nvSpPr>
          <p:spPr>
            <a:xfrm>
              <a:off x="0" y="200025"/>
              <a:ext cx="12133826" cy="18599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200"/>
                </a:lnSpc>
                <a:spcBef>
                  <a:spcPct val="0"/>
                </a:spcBef>
              </a:pPr>
              <a:r>
                <a:rPr lang="en-US" sz="10200" spc="-203">
                  <a:solidFill>
                    <a:srgbClr val="212529"/>
                  </a:solidFill>
                  <a:latin typeface="TT Ramillas" panose="020E0000080000020004"/>
                  <a:ea typeface="TT Ramillas" panose="020E0000080000020004"/>
                  <a:cs typeface="TT Ramillas" panose="020E0000080000020004"/>
                  <a:sym typeface="TT Ramillas" panose="020E0000080000020004"/>
                </a:rPr>
                <a:t>The Flip Game</a:t>
              </a:r>
              <a:endParaRPr lang="en-US" sz="10200" spc="-203">
                <a:solidFill>
                  <a:srgbClr val="212529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391197"/>
              <a:ext cx="12133826" cy="625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pc="149">
                  <a:solidFill>
                    <a:srgbClr val="212529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A LOGIC PUZZLE INSPIRED BY SIMON TATHAMS</a:t>
              </a:r>
              <a:endParaRPr lang="en-US" sz="3000" spc="149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D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66750" y="666750"/>
            <a:ext cx="8324850" cy="8953500"/>
            <a:chOff x="0" y="0"/>
            <a:chExt cx="1289737" cy="13871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9737" cy="1387131"/>
            </a:xfrm>
            <a:custGeom>
              <a:avLst/>
              <a:gdLst/>
              <a:ahLst/>
              <a:cxnLst/>
              <a:rect l="l" t="t" r="r" b="b"/>
              <a:pathLst>
                <a:path w="1289737" h="1387131">
                  <a:moveTo>
                    <a:pt x="0" y="0"/>
                  </a:moveTo>
                  <a:lnTo>
                    <a:pt x="1289737" y="0"/>
                  </a:lnTo>
                  <a:lnTo>
                    <a:pt x="1289737" y="1387131"/>
                  </a:lnTo>
                  <a:lnTo>
                    <a:pt x="0" y="1387131"/>
                  </a:lnTo>
                  <a:close/>
                </a:path>
              </a:pathLst>
            </a:custGeom>
            <a:blipFill>
              <a:blip r:embed="rId1"/>
              <a:stretch>
                <a:fillRect t="-258" b="-258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575873" y="5538466"/>
            <a:ext cx="8045377" cy="3548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00"/>
              </a:lnSpc>
              <a:spcBef>
                <a:spcPct val="0"/>
              </a:spcBef>
            </a:pPr>
            <a:r>
              <a:rPr lang="en-US" sz="9200" u="none" strike="noStrike" spc="-184">
                <a:solidFill>
                  <a:srgbClr val="212529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rPr>
              <a:t>Game Difficulty and Enhancements</a:t>
            </a:r>
            <a:endParaRPr lang="en-US" sz="9200" u="none" strike="noStrike" spc="-184">
              <a:solidFill>
                <a:srgbClr val="212529"/>
              </a:solidFill>
              <a:latin typeface="TT Ramillas" panose="020E0000080000020004"/>
              <a:ea typeface="TT Ramillas" panose="020E0000080000020004"/>
              <a:cs typeface="TT Ramillas" panose="020E0000080000020004"/>
              <a:sym typeface="TT Ramillas" panose="020E0000080000020004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D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custDataLst>
              <p:tags r:id="rId1"/>
            </p:custDataLst>
          </p:nvPr>
        </p:nvSpPr>
        <p:spPr>
          <a:xfrm>
            <a:off x="1380928" y="7285251"/>
            <a:ext cx="4000303" cy="0"/>
          </a:xfrm>
          <a:prstGeom prst="line">
            <a:avLst/>
          </a:prstGeom>
          <a:ln w="19050" cap="flat">
            <a:solidFill>
              <a:srgbClr val="21252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7134028" y="7285251"/>
            <a:ext cx="4000303" cy="0"/>
          </a:xfrm>
          <a:prstGeom prst="line">
            <a:avLst/>
          </a:prstGeom>
          <a:ln w="19050" cap="flat">
            <a:solidFill>
              <a:srgbClr val="21252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2887325" y="7285291"/>
            <a:ext cx="4000303" cy="0"/>
          </a:xfrm>
          <a:prstGeom prst="line">
            <a:avLst/>
          </a:prstGeom>
          <a:ln w="19050" cap="flat">
            <a:solidFill>
              <a:srgbClr val="21252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600200" y="3543139"/>
            <a:ext cx="14927166" cy="2086688"/>
          </a:xfrm>
          <a:custGeom>
            <a:avLst/>
            <a:gdLst/>
            <a:ahLst/>
            <a:cxnLst/>
            <a:rect l="l" t="t" r="r" b="b"/>
            <a:pathLst>
              <a:path w="14927166" h="2086688">
                <a:moveTo>
                  <a:pt x="0" y="0"/>
                </a:moveTo>
                <a:lnTo>
                  <a:pt x="14927166" y="0"/>
                </a:lnTo>
                <a:lnTo>
                  <a:pt x="14927166" y="2086688"/>
                </a:lnTo>
                <a:lnTo>
                  <a:pt x="0" y="2086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87" t="-21079" r="-2168" b="-29914"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666750" y="666750"/>
            <a:ext cx="14077950" cy="2212340"/>
            <a:chOff x="0" y="0"/>
            <a:chExt cx="18770600" cy="2949787"/>
          </a:xfrm>
        </p:grpSpPr>
        <p:sp>
          <p:nvSpPr>
            <p:cNvPr id="7" name="TextBox 7"/>
            <p:cNvSpPr txBox="1"/>
            <p:nvPr/>
          </p:nvSpPr>
          <p:spPr>
            <a:xfrm>
              <a:off x="0" y="190500"/>
              <a:ext cx="18770600" cy="18372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000"/>
                </a:lnSpc>
                <a:spcBef>
                  <a:spcPct val="0"/>
                </a:spcBef>
              </a:pPr>
              <a:r>
                <a:rPr lang="en-US" sz="10000" spc="-199">
                  <a:solidFill>
                    <a:srgbClr val="0D6EFD"/>
                  </a:solidFill>
                  <a:latin typeface="TT Ramillas" panose="020E0000080000020004"/>
                  <a:ea typeface="TT Ramillas" panose="020E0000080000020004"/>
                  <a:cs typeface="TT Ramillas" panose="020E0000080000020004"/>
                  <a:sym typeface="TT Ramillas" panose="020E0000080000020004"/>
                </a:rPr>
                <a:t>Game Difficulty</a:t>
              </a:r>
              <a:endParaRPr lang="en-US" sz="10000" spc="-199">
                <a:solidFill>
                  <a:srgbClr val="0D6EFD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349500"/>
              <a:ext cx="18770600" cy="6002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800" spc="139">
                  <a:solidFill>
                    <a:srgbClr val="212529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UNDERSTANDING THE FLIP GAME MECHANICS</a:t>
              </a:r>
              <a:endParaRPr lang="en-US" sz="2800" spc="139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</p:txBody>
        </p:sp>
      </p:grpSp>
      <p:sp>
        <p:nvSpPr>
          <p:cNvPr id="9" name="TextBox 9"/>
          <p:cNvSpPr txBox="1"/>
          <p:nvPr>
            <p:custDataLst>
              <p:tags r:id="rId4"/>
            </p:custDataLst>
          </p:nvPr>
        </p:nvSpPr>
        <p:spPr>
          <a:xfrm>
            <a:off x="1390650" y="6648981"/>
            <a:ext cx="4010025" cy="380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</a:pPr>
            <a:r>
              <a:rPr lang="en-US" sz="3000" spc="-59">
                <a:solidFill>
                  <a:srgbClr val="212529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rPr>
              <a:t>Board Sizes</a:t>
            </a:r>
            <a:endParaRPr lang="en-US" sz="3000" spc="-59">
              <a:solidFill>
                <a:srgbClr val="212529"/>
              </a:solidFill>
              <a:latin typeface="TT Ramillas" panose="020E0000080000020004"/>
              <a:ea typeface="TT Ramillas" panose="020E0000080000020004"/>
              <a:cs typeface="TT Ramillas" panose="020E0000080000020004"/>
              <a:sym typeface="TT Ramillas" panose="020E0000080000020004"/>
            </a:endParaRPr>
          </a:p>
        </p:txBody>
      </p:sp>
      <p:sp>
        <p:nvSpPr>
          <p:cNvPr id="10" name="TextBox 10"/>
          <p:cNvSpPr txBox="1"/>
          <p:nvPr>
            <p:custDataLst>
              <p:tags r:id="rId5"/>
            </p:custDataLst>
          </p:nvPr>
        </p:nvSpPr>
        <p:spPr>
          <a:xfrm>
            <a:off x="1390650" y="7492896"/>
            <a:ext cx="4000303" cy="226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The Flip Game features three board sizes: Easy (</a:t>
            </a:r>
            <a:r>
              <a:rPr lang="en-IN" altLang="en-US" sz="21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4x4</a:t>
            </a:r>
            <a:r>
              <a:rPr lang="en-US" sz="21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), Medium (</a:t>
            </a:r>
            <a:r>
              <a:rPr lang="en-IN" altLang="en-US" sz="21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6x6</a:t>
            </a:r>
            <a:r>
              <a:rPr lang="en-US" sz="21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), and Hard (</a:t>
            </a:r>
            <a:r>
              <a:rPr lang="en-IN" altLang="en-US" sz="21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10x10</a:t>
            </a:r>
            <a:r>
              <a:rPr lang="en-US" sz="21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). This variety caters to different skill levels and enhances player engagement.</a:t>
            </a:r>
            <a:endParaRPr lang="en-US" sz="21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</p:txBody>
      </p:sp>
      <p:sp>
        <p:nvSpPr>
          <p:cNvPr id="11" name="TextBox 11"/>
          <p:cNvSpPr txBox="1"/>
          <p:nvPr>
            <p:custDataLst>
              <p:tags r:id="rId6"/>
            </p:custDataLst>
          </p:nvPr>
        </p:nvSpPr>
        <p:spPr>
          <a:xfrm>
            <a:off x="7143750" y="6648981"/>
            <a:ext cx="4010025" cy="380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</a:pPr>
            <a:r>
              <a:rPr lang="en-US" sz="3000" spc="-59">
                <a:solidFill>
                  <a:srgbClr val="212529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rPr>
              <a:t>Tile States</a:t>
            </a:r>
            <a:endParaRPr lang="en-US" sz="3000" spc="-59">
              <a:solidFill>
                <a:srgbClr val="212529"/>
              </a:solidFill>
              <a:latin typeface="TT Ramillas" panose="020E0000080000020004"/>
              <a:ea typeface="TT Ramillas" panose="020E0000080000020004"/>
              <a:cs typeface="TT Ramillas" panose="020E0000080000020004"/>
              <a:sym typeface="TT Ramillas" panose="020E0000080000020004"/>
            </a:endParaRPr>
          </a:p>
        </p:txBody>
      </p:sp>
      <p:sp>
        <p:nvSpPr>
          <p:cNvPr id="12" name="TextBox 12"/>
          <p:cNvSpPr txBox="1"/>
          <p:nvPr>
            <p:custDataLst>
              <p:tags r:id="rId7"/>
            </p:custDataLst>
          </p:nvPr>
        </p:nvSpPr>
        <p:spPr>
          <a:xfrm>
            <a:off x="7143750" y="7492896"/>
            <a:ext cx="4000303" cy="185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Tiles have two possible states: ON (white) and OFF (black). Players aim to turn all tiles to the same state, adding a layer of strategy to the gameplay.</a:t>
            </a:r>
            <a:endParaRPr lang="en-US" sz="21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897047" y="6649021"/>
            <a:ext cx="4010025" cy="380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</a:pPr>
            <a:r>
              <a:rPr lang="en-US" sz="3000" spc="-59">
                <a:solidFill>
                  <a:srgbClr val="212529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rPr>
              <a:t>Turn-Based Play</a:t>
            </a:r>
            <a:endParaRPr lang="en-US" sz="3000" spc="-59">
              <a:solidFill>
                <a:srgbClr val="212529"/>
              </a:solidFill>
              <a:latin typeface="TT Ramillas" panose="020E0000080000020004"/>
              <a:ea typeface="TT Ramillas" panose="020E0000080000020004"/>
              <a:cs typeface="TT Ramillas" panose="020E0000080000020004"/>
              <a:sym typeface="TT Ramillas" panose="020E00000800000200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897047" y="7492936"/>
            <a:ext cx="4000303" cy="222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Gameplay alternates between the player and the computer. This turn-based system ensures strategic interactions, with the computer programmed to avoid making the last winning move.</a:t>
            </a:r>
            <a:endParaRPr lang="en-US" sz="21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</p:txBody>
      </p:sp>
      <p:sp>
        <p:nvSpPr>
          <p:cNvPr id="16" name="Rectangles 15"/>
          <p:cNvSpPr/>
          <p:nvPr>
            <p:custDataLst>
              <p:tags r:id="rId8"/>
            </p:custDataLst>
          </p:nvPr>
        </p:nvSpPr>
        <p:spPr>
          <a:xfrm>
            <a:off x="3429000" y="4762500"/>
            <a:ext cx="11430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s 16"/>
          <p:cNvSpPr/>
          <p:nvPr>
            <p:custDataLst>
              <p:tags r:id="rId9"/>
            </p:custDataLst>
          </p:nvPr>
        </p:nvSpPr>
        <p:spPr>
          <a:xfrm>
            <a:off x="8305800" y="4610100"/>
            <a:ext cx="11430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Rectangles 17"/>
          <p:cNvSpPr/>
          <p:nvPr/>
        </p:nvSpPr>
        <p:spPr>
          <a:xfrm>
            <a:off x="13716000" y="4686300"/>
            <a:ext cx="11430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Text Box 18"/>
          <p:cNvSpPr txBox="1"/>
          <p:nvPr>
            <p:custDataLst>
              <p:tags r:id="rId10"/>
            </p:custDataLst>
          </p:nvPr>
        </p:nvSpPr>
        <p:spPr>
          <a:xfrm>
            <a:off x="3429000" y="4712335"/>
            <a:ext cx="11582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3200"/>
              <a:t>4x4</a:t>
            </a:r>
            <a:endParaRPr lang="en-IN" altLang="en-US" sz="3200"/>
          </a:p>
        </p:txBody>
      </p:sp>
      <p:sp>
        <p:nvSpPr>
          <p:cNvPr id="20" name="Text Box 19"/>
          <p:cNvSpPr txBox="1"/>
          <p:nvPr>
            <p:custDataLst>
              <p:tags r:id="rId11"/>
            </p:custDataLst>
          </p:nvPr>
        </p:nvSpPr>
        <p:spPr>
          <a:xfrm>
            <a:off x="8686800" y="4712335"/>
            <a:ext cx="11582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3200"/>
              <a:t>6x6</a:t>
            </a:r>
            <a:endParaRPr lang="en-IN" altLang="en-US" sz="3200"/>
          </a:p>
        </p:txBody>
      </p:sp>
      <p:sp>
        <p:nvSpPr>
          <p:cNvPr id="21" name="Text Box 20"/>
          <p:cNvSpPr txBox="1"/>
          <p:nvPr/>
        </p:nvSpPr>
        <p:spPr>
          <a:xfrm>
            <a:off x="13639800" y="4712335"/>
            <a:ext cx="1370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3200"/>
              <a:t>10x10</a:t>
            </a:r>
            <a:endParaRPr lang="en-IN" altLang="en-US" sz="320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D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761011" y="1317308"/>
            <a:ext cx="5448300" cy="7652385"/>
            <a:chOff x="0" y="0"/>
            <a:chExt cx="7264400" cy="10203180"/>
          </a:xfrm>
        </p:grpSpPr>
        <p:sp>
          <p:nvSpPr>
            <p:cNvPr id="3" name="TextBox 3"/>
            <p:cNvSpPr txBox="1"/>
            <p:nvPr/>
          </p:nvSpPr>
          <p:spPr>
            <a:xfrm>
              <a:off x="0" y="76200"/>
              <a:ext cx="7264400" cy="642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600" spc="-71">
                  <a:solidFill>
                    <a:srgbClr val="212529"/>
                  </a:solidFill>
                  <a:latin typeface="TT Ramillas" panose="020E0000080000020004"/>
                  <a:ea typeface="TT Ramillas" panose="020E0000080000020004"/>
                  <a:cs typeface="TT Ramillas" panose="020E0000080000020004"/>
                  <a:sym typeface="TT Ramillas" panose="020E0000080000020004"/>
                </a:rPr>
                <a:t>Undo</a:t>
              </a:r>
              <a:endParaRPr lang="en-US" sz="3600" spc="-71">
                <a:solidFill>
                  <a:srgbClr val="212529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7611" y="1271269"/>
              <a:ext cx="7246789" cy="12357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212529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Players can revert to the previous state effortlessly.</a:t>
              </a:r>
              <a:endParaRPr lang="en-US" sz="27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</p:txBody>
        </p:sp>
        <p:sp>
          <p:nvSpPr>
            <p:cNvPr id="5" name="AutoShape 5"/>
            <p:cNvSpPr/>
            <p:nvPr/>
          </p:nvSpPr>
          <p:spPr>
            <a:xfrm>
              <a:off x="17611" y="1017269"/>
              <a:ext cx="7246789" cy="0"/>
            </a:xfrm>
            <a:prstGeom prst="line">
              <a:avLst/>
            </a:prstGeom>
            <a:ln w="25400" cap="flat">
              <a:solidFill>
                <a:srgbClr val="21252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3924300"/>
              <a:ext cx="7264400" cy="642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600" spc="-71">
                  <a:solidFill>
                    <a:srgbClr val="212529"/>
                  </a:solidFill>
                  <a:latin typeface="TT Ramillas" panose="020E0000080000020004"/>
                  <a:ea typeface="TT Ramillas" panose="020E0000080000020004"/>
                  <a:cs typeface="TT Ramillas" panose="020E0000080000020004"/>
                  <a:sym typeface="TT Ramillas" panose="020E0000080000020004"/>
                </a:rPr>
                <a:t>Hint</a:t>
              </a:r>
              <a:endParaRPr lang="en-US" sz="3600" spc="-71">
                <a:solidFill>
                  <a:srgbClr val="212529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611" y="5119369"/>
              <a:ext cx="7246789" cy="12357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212529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Offers strategic guidance to assist players in decisions.</a:t>
              </a:r>
              <a:endParaRPr lang="en-US" sz="27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</p:txBody>
        </p:sp>
        <p:sp>
          <p:nvSpPr>
            <p:cNvPr id="8" name="AutoShape 8"/>
            <p:cNvSpPr/>
            <p:nvPr/>
          </p:nvSpPr>
          <p:spPr>
            <a:xfrm>
              <a:off x="17611" y="4865369"/>
              <a:ext cx="7246789" cy="0"/>
            </a:xfrm>
            <a:prstGeom prst="line">
              <a:avLst/>
            </a:prstGeom>
            <a:ln w="25400" cap="flat">
              <a:solidFill>
                <a:srgbClr val="21252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7772400"/>
              <a:ext cx="7264400" cy="642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600" spc="-71">
                  <a:solidFill>
                    <a:srgbClr val="212529"/>
                  </a:solidFill>
                  <a:latin typeface="TT Ramillas" panose="020E0000080000020004"/>
                  <a:ea typeface="TT Ramillas" panose="020E0000080000020004"/>
                  <a:cs typeface="TT Ramillas" panose="020E0000080000020004"/>
                  <a:sym typeface="TT Ramillas" panose="020E0000080000020004"/>
                </a:rPr>
                <a:t>Auto-solve</a:t>
              </a:r>
              <a:endParaRPr lang="en-US" sz="3600" spc="-71">
                <a:solidFill>
                  <a:srgbClr val="212529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611" y="8967469"/>
              <a:ext cx="7246789" cy="12357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212529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Automatically completes the game for players when needed.</a:t>
              </a:r>
              <a:endParaRPr lang="en-US" sz="27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</p:txBody>
        </p:sp>
        <p:sp>
          <p:nvSpPr>
            <p:cNvPr id="11" name="AutoShape 11"/>
            <p:cNvSpPr/>
            <p:nvPr/>
          </p:nvSpPr>
          <p:spPr>
            <a:xfrm>
              <a:off x="17611" y="8713469"/>
              <a:ext cx="7246789" cy="0"/>
            </a:xfrm>
            <a:prstGeom prst="line">
              <a:avLst/>
            </a:prstGeom>
            <a:ln w="25400" cap="flat">
              <a:solidFill>
                <a:srgbClr val="212529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2" name="Freeform 12"/>
          <p:cNvSpPr/>
          <p:nvPr/>
        </p:nvSpPr>
        <p:spPr>
          <a:xfrm>
            <a:off x="1028700" y="3333750"/>
            <a:ext cx="7979511" cy="1127106"/>
          </a:xfrm>
          <a:custGeom>
            <a:avLst/>
            <a:gdLst/>
            <a:ahLst/>
            <a:cxnLst/>
            <a:rect l="l" t="t" r="r" b="b"/>
            <a:pathLst>
              <a:path w="7979511" h="1127106">
                <a:moveTo>
                  <a:pt x="0" y="0"/>
                </a:moveTo>
                <a:lnTo>
                  <a:pt x="7979511" y="0"/>
                </a:lnTo>
                <a:lnTo>
                  <a:pt x="7979511" y="1127106"/>
                </a:lnTo>
                <a:lnTo>
                  <a:pt x="0" y="112710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831815" y="4788982"/>
            <a:ext cx="5116446" cy="5106189"/>
          </a:xfrm>
          <a:custGeom>
            <a:avLst/>
            <a:gdLst/>
            <a:ahLst/>
            <a:cxnLst/>
            <a:rect l="l" t="t" r="r" b="b"/>
            <a:pathLst>
              <a:path w="5116446" h="5106189">
                <a:moveTo>
                  <a:pt x="0" y="0"/>
                </a:moveTo>
                <a:lnTo>
                  <a:pt x="5116447" y="0"/>
                </a:lnTo>
                <a:lnTo>
                  <a:pt x="5116447" y="5106189"/>
                </a:lnTo>
                <a:lnTo>
                  <a:pt x="0" y="51061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090" t="-31974" r="-16338" b="-32782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66750" y="598805"/>
            <a:ext cx="8736330" cy="2564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000"/>
              </a:lnSpc>
              <a:spcBef>
                <a:spcPct val="0"/>
              </a:spcBef>
            </a:pPr>
            <a:r>
              <a:rPr lang="en-US" sz="10000" spc="-199">
                <a:solidFill>
                  <a:srgbClr val="0D6EFD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rPr>
              <a:t>Game Enhancements</a:t>
            </a:r>
            <a:endParaRPr lang="en-US" sz="10000" spc="-199">
              <a:solidFill>
                <a:srgbClr val="0D6EFD"/>
              </a:solidFill>
              <a:latin typeface="TT Ramillas" panose="020E0000080000020004"/>
              <a:ea typeface="TT Ramillas" panose="020E0000080000020004"/>
              <a:cs typeface="TT Ramillas" panose="020E0000080000020004"/>
              <a:sym typeface="TT Ramillas" panose="020E0000080000020004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66750" y="666750"/>
            <a:ext cx="8324850" cy="8953500"/>
            <a:chOff x="0" y="0"/>
            <a:chExt cx="1289737" cy="13871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9737" cy="1387131"/>
            </a:xfrm>
            <a:custGeom>
              <a:avLst/>
              <a:gdLst/>
              <a:ahLst/>
              <a:cxnLst/>
              <a:rect l="l" t="t" r="r" b="b"/>
              <a:pathLst>
                <a:path w="1289737" h="1387131">
                  <a:moveTo>
                    <a:pt x="0" y="0"/>
                  </a:moveTo>
                  <a:lnTo>
                    <a:pt x="1289737" y="0"/>
                  </a:lnTo>
                  <a:lnTo>
                    <a:pt x="1289737" y="1387131"/>
                  </a:lnTo>
                  <a:lnTo>
                    <a:pt x="0" y="1387131"/>
                  </a:lnTo>
                  <a:close/>
                </a:path>
              </a:pathLst>
            </a:custGeom>
            <a:blipFill>
              <a:blip r:embed="rId1"/>
              <a:stretch>
                <a:fillRect t="-258" b="-258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0734675" y="7023101"/>
            <a:ext cx="6886575" cy="2597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00"/>
              </a:lnSpc>
              <a:spcBef>
                <a:spcPct val="0"/>
              </a:spcBef>
            </a:pPr>
            <a:r>
              <a:rPr lang="en-US" sz="10000" u="none" strike="noStrike" spc="-199">
                <a:solidFill>
                  <a:srgbClr val="D3D3D3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rPr>
              <a:t>Tile Types and Graphs</a:t>
            </a:r>
            <a:endParaRPr lang="en-US" sz="10000" u="none" strike="noStrike" spc="-199">
              <a:solidFill>
                <a:srgbClr val="D3D3D3"/>
              </a:solidFill>
              <a:latin typeface="TT Ramillas" panose="020E0000080000020004"/>
              <a:ea typeface="TT Ramillas" panose="020E0000080000020004"/>
              <a:cs typeface="TT Ramillas" panose="020E0000080000020004"/>
              <a:sym typeface="TT Ramillas" panose="020E0000080000020004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D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57028" y="6635154"/>
            <a:ext cx="4000303" cy="0"/>
          </a:xfrm>
          <a:prstGeom prst="line">
            <a:avLst/>
          </a:prstGeom>
          <a:ln w="19050" cap="flat">
            <a:solidFill>
              <a:srgbClr val="21252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6419850" y="6549469"/>
            <a:ext cx="4000303" cy="0"/>
          </a:xfrm>
          <a:prstGeom prst="line">
            <a:avLst/>
          </a:prstGeom>
          <a:ln w="19050" cap="flat">
            <a:solidFill>
              <a:srgbClr val="21252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2496292" y="6492319"/>
            <a:ext cx="4000303" cy="0"/>
          </a:xfrm>
          <a:prstGeom prst="line">
            <a:avLst/>
          </a:prstGeom>
          <a:ln w="19050" cap="flat">
            <a:solidFill>
              <a:srgbClr val="21252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0">
            <a:off x="1028700" y="3242741"/>
            <a:ext cx="2231433" cy="2175119"/>
            <a:chOff x="0" y="0"/>
            <a:chExt cx="2975243" cy="29001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98415" cy="2900159"/>
            </a:xfrm>
            <a:custGeom>
              <a:avLst/>
              <a:gdLst/>
              <a:ahLst/>
              <a:cxnLst/>
              <a:rect l="l" t="t" r="r" b="b"/>
              <a:pathLst>
                <a:path w="1498415" h="2900159">
                  <a:moveTo>
                    <a:pt x="0" y="0"/>
                  </a:moveTo>
                  <a:lnTo>
                    <a:pt x="1498415" y="0"/>
                  </a:lnTo>
                  <a:lnTo>
                    <a:pt x="1498415" y="2900159"/>
                  </a:lnTo>
                  <a:lnTo>
                    <a:pt x="0" y="2900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98415" y="1450079"/>
              <a:ext cx="1476828" cy="1450079"/>
            </a:xfrm>
            <a:custGeom>
              <a:avLst/>
              <a:gdLst/>
              <a:ahLst/>
              <a:cxnLst/>
              <a:rect l="l" t="t" r="r" b="b"/>
              <a:pathLst>
                <a:path w="1476828" h="1450079">
                  <a:moveTo>
                    <a:pt x="0" y="0"/>
                  </a:moveTo>
                  <a:lnTo>
                    <a:pt x="1476828" y="0"/>
                  </a:lnTo>
                  <a:lnTo>
                    <a:pt x="1476828" y="1450080"/>
                  </a:lnTo>
                  <a:lnTo>
                    <a:pt x="0" y="145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7505" r="-685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0">
            <a:off x="7402125" y="3275248"/>
            <a:ext cx="1474265" cy="2175119"/>
            <a:chOff x="0" y="0"/>
            <a:chExt cx="1965687" cy="29001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93875" cy="2900159"/>
            </a:xfrm>
            <a:custGeom>
              <a:avLst/>
              <a:gdLst/>
              <a:ahLst/>
              <a:cxnLst/>
              <a:rect l="l" t="t" r="r" b="b"/>
              <a:pathLst>
                <a:path w="993875" h="2900159">
                  <a:moveTo>
                    <a:pt x="0" y="0"/>
                  </a:moveTo>
                  <a:lnTo>
                    <a:pt x="993875" y="0"/>
                  </a:lnTo>
                  <a:lnTo>
                    <a:pt x="993875" y="2900159"/>
                  </a:lnTo>
                  <a:lnTo>
                    <a:pt x="0" y="2900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993875" y="1010753"/>
              <a:ext cx="971812" cy="965338"/>
            </a:xfrm>
            <a:custGeom>
              <a:avLst/>
              <a:gdLst/>
              <a:ahLst/>
              <a:cxnLst/>
              <a:rect l="l" t="t" r="r" b="b"/>
              <a:pathLst>
                <a:path w="971812" h="965338">
                  <a:moveTo>
                    <a:pt x="0" y="0"/>
                  </a:moveTo>
                  <a:lnTo>
                    <a:pt x="971812" y="0"/>
                  </a:lnTo>
                  <a:lnTo>
                    <a:pt x="971812" y="965338"/>
                  </a:lnTo>
                  <a:lnTo>
                    <a:pt x="0" y="965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544" r="-2086" b="-6936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13234953" y="3242741"/>
            <a:ext cx="2138273" cy="2207626"/>
            <a:chOff x="0" y="0"/>
            <a:chExt cx="2851030" cy="2943502"/>
          </a:xfrm>
        </p:grpSpPr>
        <p:sp>
          <p:nvSpPr>
            <p:cNvPr id="12" name="Freeform 12"/>
            <p:cNvSpPr/>
            <p:nvPr/>
          </p:nvSpPr>
          <p:spPr>
            <a:xfrm>
              <a:off x="968173" y="0"/>
              <a:ext cx="964366" cy="2943502"/>
            </a:xfrm>
            <a:custGeom>
              <a:avLst/>
              <a:gdLst/>
              <a:ahLst/>
              <a:cxnLst/>
              <a:rect l="l" t="t" r="r" b="b"/>
              <a:pathLst>
                <a:path w="964366" h="2943502">
                  <a:moveTo>
                    <a:pt x="0" y="0"/>
                  </a:moveTo>
                  <a:lnTo>
                    <a:pt x="964366" y="0"/>
                  </a:lnTo>
                  <a:lnTo>
                    <a:pt x="964366" y="2943502"/>
                  </a:lnTo>
                  <a:lnTo>
                    <a:pt x="0" y="2943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53" t="-2450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932539" y="980715"/>
              <a:ext cx="918492" cy="957403"/>
            </a:xfrm>
            <a:custGeom>
              <a:avLst/>
              <a:gdLst/>
              <a:ahLst/>
              <a:cxnLst/>
              <a:rect l="l" t="t" r="r" b="b"/>
              <a:pathLst>
                <a:path w="918492" h="957403">
                  <a:moveTo>
                    <a:pt x="0" y="0"/>
                  </a:moveTo>
                  <a:lnTo>
                    <a:pt x="918491" y="0"/>
                  </a:lnTo>
                  <a:lnTo>
                    <a:pt x="918491" y="957402"/>
                  </a:lnTo>
                  <a:lnTo>
                    <a:pt x="0" y="957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685" r="-5438" b="-6039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0" y="980715"/>
              <a:ext cx="968173" cy="991409"/>
            </a:xfrm>
            <a:custGeom>
              <a:avLst/>
              <a:gdLst/>
              <a:ahLst/>
              <a:cxnLst/>
              <a:rect l="l" t="t" r="r" b="b"/>
              <a:pathLst>
                <a:path w="968173" h="991409">
                  <a:moveTo>
                    <a:pt x="0" y="0"/>
                  </a:moveTo>
                  <a:lnTo>
                    <a:pt x="968173" y="0"/>
                  </a:lnTo>
                  <a:lnTo>
                    <a:pt x="968173" y="991409"/>
                  </a:lnTo>
                  <a:lnTo>
                    <a:pt x="0" y="9914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095" t="-3699" r="-2324" b="-5254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0">
            <a:off x="666750" y="666750"/>
            <a:ext cx="14077950" cy="2212340"/>
            <a:chOff x="0" y="0"/>
            <a:chExt cx="18770600" cy="294978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190500"/>
              <a:ext cx="18770600" cy="18372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000"/>
                </a:lnSpc>
                <a:spcBef>
                  <a:spcPct val="0"/>
                </a:spcBef>
              </a:pPr>
              <a:r>
                <a:rPr lang="en-US" sz="10000" spc="-199">
                  <a:solidFill>
                    <a:srgbClr val="0D6EFD"/>
                  </a:solidFill>
                  <a:latin typeface="TT Ramillas" panose="020E0000080000020004"/>
                  <a:ea typeface="TT Ramillas" panose="020E0000080000020004"/>
                  <a:cs typeface="TT Ramillas" panose="020E0000080000020004"/>
                  <a:sym typeface="TT Ramillas" panose="020E0000080000020004"/>
                </a:rPr>
                <a:t>Tile Types</a:t>
              </a:r>
              <a:endParaRPr lang="en-US" sz="10000" spc="-199">
                <a:solidFill>
                  <a:srgbClr val="0D6EFD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2349500"/>
              <a:ext cx="18770600" cy="6002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800" spc="139">
                  <a:solidFill>
                    <a:srgbClr val="212529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UNDERSTANDING ADJACENCY PATTERNS FOR TILES</a:t>
              </a:r>
              <a:endParaRPr lang="en-US" sz="2800" spc="139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66750" y="5998884"/>
            <a:ext cx="4010025" cy="380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</a:pPr>
            <a:r>
              <a:rPr lang="en-US" sz="3000" spc="-59">
                <a:solidFill>
                  <a:srgbClr val="212529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rPr>
              <a:t>Corner  Tiles</a:t>
            </a:r>
            <a:endParaRPr lang="en-US" sz="3000" spc="-59">
              <a:solidFill>
                <a:srgbClr val="212529"/>
              </a:solidFill>
              <a:latin typeface="TT Ramillas" panose="020E0000080000020004"/>
              <a:ea typeface="TT Ramillas" panose="020E0000080000020004"/>
              <a:cs typeface="TT Ramillas" panose="020E0000080000020004"/>
              <a:sym typeface="TT Ramillas" panose="020E00000800000200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66750" y="6842799"/>
            <a:ext cx="4000303" cy="222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Corner tiles have </a:t>
            </a:r>
            <a:r>
              <a:rPr lang="en-US" sz="2100" b="1">
                <a:solidFill>
                  <a:srgbClr val="212529"/>
                </a:solidFill>
                <a:latin typeface="TT Interphases Bold" panose="02000803060000020004"/>
                <a:ea typeface="TT Interphases Bold" panose="02000803060000020004"/>
                <a:cs typeface="TT Interphases Bold" panose="02000803060000020004"/>
                <a:sym typeface="TT Interphases Bold" panose="02000803060000020004"/>
              </a:rPr>
              <a:t>two neighbors</a:t>
            </a:r>
            <a:r>
              <a:rPr lang="en-US" sz="21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: adjacent tiles above and below or beside. Their flipping behavior affects nearby tiles, making them critical in determining overall game strategy.</a:t>
            </a:r>
            <a:endParaRPr lang="en-US" sz="21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429572" y="5913199"/>
            <a:ext cx="4010025" cy="380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</a:pPr>
            <a:r>
              <a:rPr lang="en-US" sz="3000" spc="-59">
                <a:solidFill>
                  <a:srgbClr val="212529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rPr>
              <a:t>T-shape </a:t>
            </a:r>
            <a:r>
              <a:rPr lang="en-US" sz="3000" spc="-59">
                <a:solidFill>
                  <a:srgbClr val="212529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rPr>
              <a:t>Tiles</a:t>
            </a:r>
            <a:endParaRPr lang="en-US" sz="3000" spc="-59">
              <a:solidFill>
                <a:srgbClr val="212529"/>
              </a:solidFill>
              <a:latin typeface="TT Ramillas" panose="020E0000080000020004"/>
              <a:ea typeface="TT Ramillas" panose="020E0000080000020004"/>
              <a:cs typeface="TT Ramillas" panose="020E0000080000020004"/>
              <a:sym typeface="TT Ramillas" panose="020E00000800000200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429572" y="6757114"/>
            <a:ext cx="4000303" cy="2594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Edge tiles feature </a:t>
            </a:r>
            <a:r>
              <a:rPr lang="en-US" sz="2100" b="1">
                <a:solidFill>
                  <a:srgbClr val="212529"/>
                </a:solidFill>
                <a:latin typeface="TT Interphases Bold" panose="02000803060000020004"/>
                <a:ea typeface="TT Interphases Bold" panose="02000803060000020004"/>
                <a:cs typeface="TT Interphases Bold" panose="02000803060000020004"/>
                <a:sym typeface="TT Interphases Bold" panose="02000803060000020004"/>
              </a:rPr>
              <a:t>three neighbors</a:t>
            </a:r>
            <a:r>
              <a:rPr lang="en-US" sz="21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 surrounding them. This positioning influences the flipping mechanics, requiring strategic consideration when planning tile interactions during gameplay.</a:t>
            </a:r>
            <a:endParaRPr lang="en-US" sz="21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506013" y="5856049"/>
            <a:ext cx="4010025" cy="380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</a:pPr>
            <a:r>
              <a:rPr lang="en-US" sz="3000" spc="-59">
                <a:solidFill>
                  <a:srgbClr val="212529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rPr>
              <a:t>Plus-shape </a:t>
            </a:r>
            <a:r>
              <a:rPr lang="en-US" sz="3000" spc="-59">
                <a:solidFill>
                  <a:srgbClr val="212529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rPr>
              <a:t>Tiles</a:t>
            </a:r>
            <a:endParaRPr lang="en-US" sz="3000" spc="-59">
              <a:solidFill>
                <a:srgbClr val="212529"/>
              </a:solidFill>
              <a:latin typeface="TT Ramillas" panose="020E0000080000020004"/>
              <a:ea typeface="TT Ramillas" panose="020E0000080000020004"/>
              <a:cs typeface="TT Ramillas" panose="020E0000080000020004"/>
              <a:sym typeface="TT Ramillas" panose="020E00000800000200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506013" y="6699964"/>
            <a:ext cx="4000303" cy="222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Center tiles boast </a:t>
            </a:r>
            <a:r>
              <a:rPr lang="en-US" sz="2100" b="1">
                <a:solidFill>
                  <a:srgbClr val="212529"/>
                </a:solidFill>
                <a:latin typeface="TT Interphases Bold" panose="02000803060000020004"/>
                <a:ea typeface="TT Interphases Bold" panose="02000803060000020004"/>
                <a:cs typeface="TT Interphases Bold" panose="02000803060000020004"/>
                <a:sym typeface="TT Interphases Bold" panose="02000803060000020004"/>
              </a:rPr>
              <a:t>four neighbors</a:t>
            </a:r>
            <a:r>
              <a:rPr lang="en-US" sz="21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 which provide them with the most impact. Their connections to surrounding tiles allow for greater influence on the board's overall state during moves.</a:t>
            </a:r>
            <a:endParaRPr lang="en-US" sz="21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66750" y="666750"/>
            <a:ext cx="8324850" cy="8953500"/>
            <a:chOff x="0" y="0"/>
            <a:chExt cx="1289737" cy="13871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9737" cy="1387131"/>
            </a:xfrm>
            <a:custGeom>
              <a:avLst/>
              <a:gdLst/>
              <a:ahLst/>
              <a:cxnLst/>
              <a:rect l="l" t="t" r="r" b="b"/>
              <a:pathLst>
                <a:path w="1289737" h="1387131">
                  <a:moveTo>
                    <a:pt x="0" y="0"/>
                  </a:moveTo>
                  <a:lnTo>
                    <a:pt x="1289737" y="0"/>
                  </a:lnTo>
                  <a:lnTo>
                    <a:pt x="1289737" y="1387131"/>
                  </a:lnTo>
                  <a:lnTo>
                    <a:pt x="0" y="1387131"/>
                  </a:lnTo>
                  <a:close/>
                </a:path>
              </a:pathLst>
            </a:custGeom>
            <a:blipFill>
              <a:blip r:embed="rId1"/>
              <a:stretch>
                <a:fillRect t="-258" b="-258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0734675" y="5756276"/>
            <a:ext cx="6886575" cy="2564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00"/>
              </a:lnSpc>
              <a:spcBef>
                <a:spcPct val="0"/>
              </a:spcBef>
            </a:pPr>
            <a:r>
              <a:rPr lang="en-IN" altLang="en-US" sz="10000" u="none" strike="noStrike" spc="-199">
                <a:solidFill>
                  <a:srgbClr val="D3D3D3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rPr>
              <a:t>Divide and C</a:t>
            </a:r>
            <a:r>
              <a:rPr lang="en-US" altLang="en-US" sz="10000" u="none" strike="noStrike" spc="-199">
                <a:solidFill>
                  <a:srgbClr val="D3D3D3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rPr>
              <a:t>onquer</a:t>
            </a:r>
            <a:endParaRPr lang="en-US" altLang="en-US" sz="10000" u="none" strike="noStrike" spc="-199">
              <a:solidFill>
                <a:srgbClr val="D3D3D3"/>
              </a:solidFill>
              <a:latin typeface="TT Ramillas" panose="020E0000080000020004"/>
              <a:ea typeface="TT Ramillas" panose="020E0000080000020004"/>
              <a:cs typeface="TT Ramillas" panose="020E0000080000020004"/>
              <a:sym typeface="TT Ramillas" panose="020E00000800000200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D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 rot="0">
            <a:off x="152400" y="800100"/>
            <a:ext cx="14077950" cy="2085975"/>
            <a:chOff x="0" y="190500"/>
            <a:chExt cx="18770600" cy="2781300"/>
          </a:xfrm>
        </p:grpSpPr>
        <p:sp>
          <p:nvSpPr>
            <p:cNvPr id="9" name="TextBox 9"/>
            <p:cNvSpPr txBox="1"/>
            <p:nvPr/>
          </p:nvSpPr>
          <p:spPr>
            <a:xfrm>
              <a:off x="0" y="190500"/>
              <a:ext cx="18770600" cy="1709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000"/>
                </a:lnSpc>
                <a:spcBef>
                  <a:spcPct val="0"/>
                </a:spcBef>
              </a:pPr>
              <a:r>
                <a:rPr lang="en-IN" altLang="en-US" sz="10000" spc="-199">
                  <a:solidFill>
                    <a:srgbClr val="0D6EFD"/>
                  </a:solidFill>
                  <a:latin typeface="TT Ramillas" panose="020E0000080000020004"/>
                  <a:ea typeface="TT Ramillas" panose="020E0000080000020004"/>
                  <a:cs typeface="TT Ramillas" panose="020E0000080000020004"/>
                  <a:sym typeface="TT Ramillas" panose="020E0000080000020004"/>
                </a:rPr>
                <a:t>Divide and Conquer</a:t>
              </a:r>
              <a:endParaRPr lang="en-IN" altLang="en-US" sz="10000" spc="-199">
                <a:solidFill>
                  <a:srgbClr val="0D6EFD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349500"/>
              <a:ext cx="18770600" cy="622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endParaRPr lang="en-US" sz="2800" spc="139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9537700" y="2199640"/>
            <a:ext cx="7158990" cy="6792595"/>
            <a:chOff x="15720" y="2164"/>
            <a:chExt cx="11274" cy="10697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8590" y="2164"/>
              <a:ext cx="4591" cy="4591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560" y="7885"/>
              <a:ext cx="3570" cy="1855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080" y="7884"/>
              <a:ext cx="4214" cy="1801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720" y="10980"/>
              <a:ext cx="1750" cy="1792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910" y="10958"/>
              <a:ext cx="1897" cy="1832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600" y="11007"/>
              <a:ext cx="2044" cy="1854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080" y="10933"/>
              <a:ext cx="1915" cy="1804"/>
            </a:xfrm>
            <a:prstGeom prst="rect">
              <a:avLst/>
            </a:prstGeom>
          </p:spPr>
        </p:pic>
        <p:sp>
          <p:nvSpPr>
            <p:cNvPr id="25" name="Right Arrow 24"/>
            <p:cNvSpPr/>
            <p:nvPr/>
          </p:nvSpPr>
          <p:spPr>
            <a:xfrm rot="7080000">
              <a:off x="18600" y="7020"/>
              <a:ext cx="960" cy="60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6" name="Right Arrow 25"/>
            <p:cNvSpPr/>
            <p:nvPr/>
          </p:nvSpPr>
          <p:spPr>
            <a:xfrm rot="2880000">
              <a:off x="22024" y="7027"/>
              <a:ext cx="960" cy="60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7" name="Right Arrow 26"/>
            <p:cNvSpPr/>
            <p:nvPr/>
          </p:nvSpPr>
          <p:spPr>
            <a:xfrm rot="7080000">
              <a:off x="16810" y="10045"/>
              <a:ext cx="960" cy="60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8" name="Right Arrow 27"/>
            <p:cNvSpPr/>
            <p:nvPr/>
          </p:nvSpPr>
          <p:spPr>
            <a:xfrm rot="7080000">
              <a:off x="23050" y="10046"/>
              <a:ext cx="960" cy="60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9" name="Right Arrow 28"/>
            <p:cNvSpPr/>
            <p:nvPr/>
          </p:nvSpPr>
          <p:spPr>
            <a:xfrm rot="2880000">
              <a:off x="18664" y="9997"/>
              <a:ext cx="960" cy="60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0" name="Right Arrow 29"/>
            <p:cNvSpPr/>
            <p:nvPr/>
          </p:nvSpPr>
          <p:spPr>
            <a:xfrm rot="2880000">
              <a:off x="24664" y="10009"/>
              <a:ext cx="960" cy="60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sp>
        <p:nvSpPr>
          <p:cNvPr id="32" name="Text Box 31"/>
          <p:cNvSpPr txBox="1"/>
          <p:nvPr/>
        </p:nvSpPr>
        <p:spPr>
          <a:xfrm>
            <a:off x="1120775" y="3314700"/>
            <a:ext cx="8364220" cy="62134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>
              <a:lnSpc>
                <a:spcPts val="4340"/>
              </a:lnSpc>
              <a:spcBef>
                <a:spcPct val="0"/>
              </a:spcBef>
            </a:pPr>
            <a:r>
              <a:rPr lang="en-US" altLang="en-US" sz="28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The large </a:t>
            </a:r>
            <a:r>
              <a:rPr lang="zh-CN" altLang="en-US" sz="28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𝑁</a:t>
            </a:r>
            <a:r>
              <a:rPr lang="en-US" altLang="en-US" sz="28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×</a:t>
            </a:r>
            <a:r>
              <a:rPr lang="zh-CN" altLang="en-US" sz="28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𝑁</a:t>
            </a:r>
            <a:r>
              <a:rPr lang="en-US" altLang="en-US" sz="28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board is first divided into two horizontal halves, </a:t>
            </a:r>
            <a:r>
              <a:rPr lang="en-IN" altLang="en-US" sz="28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and then </a:t>
            </a:r>
            <a:r>
              <a:rPr lang="en-US" altLang="en-US" sz="28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Each half is then further divided into two smaller square regions of size (</a:t>
            </a:r>
            <a:r>
              <a:rPr lang="en-IN" altLang="en-US" sz="28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N</a:t>
            </a:r>
            <a:r>
              <a:rPr lang="en-US" altLang="en-US" sz="28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/2)×(</a:t>
            </a:r>
            <a:r>
              <a:rPr lang="zh-CN" altLang="en-US" sz="28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𝑁</a:t>
            </a:r>
            <a:r>
              <a:rPr lang="en-US" altLang="en-US" sz="28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/2)</a:t>
            </a:r>
            <a:endParaRPr lang="en-US" altLang="en-US" sz="28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  <a:p>
            <a:pPr marL="0" lvl="0" indent="0" algn="l">
              <a:lnSpc>
                <a:spcPts val="4340"/>
              </a:lnSpc>
              <a:spcBef>
                <a:spcPct val="0"/>
              </a:spcBef>
            </a:pPr>
            <a:r>
              <a:rPr lang="en-US" altLang="en-US" sz="28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This hierarchical division breaks the large problem into smaller and manageable subproblems.</a:t>
            </a:r>
            <a:endParaRPr lang="en-US" altLang="en-US" sz="28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  <a:p>
            <a:pPr marL="0" lvl="0" indent="0" algn="l">
              <a:lnSpc>
                <a:spcPts val="4340"/>
              </a:lnSpc>
              <a:spcBef>
                <a:spcPct val="0"/>
              </a:spcBef>
            </a:pPr>
            <a:r>
              <a:rPr lang="en-US" altLang="en-US" sz="28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Each small region is solved independently using an exact solving method.</a:t>
            </a:r>
            <a:endParaRPr lang="en-US" altLang="en-US" sz="28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  <a:p>
            <a:pPr marL="0" lvl="0" indent="0" algn="l">
              <a:lnSpc>
                <a:spcPts val="4340"/>
              </a:lnSpc>
              <a:spcBef>
                <a:spcPct val="0"/>
              </a:spcBef>
            </a:pPr>
            <a:r>
              <a:rPr lang="en-US" altLang="en-US" sz="28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Finally, all partial solutions are merged together to obtain the solution for the entire board.</a:t>
            </a:r>
            <a:endParaRPr lang="en-US" altLang="en-US" sz="28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  <a:p>
            <a:pPr marL="0" lvl="0" indent="0" algn="l">
              <a:lnSpc>
                <a:spcPts val="4340"/>
              </a:lnSpc>
              <a:spcBef>
                <a:spcPct val="0"/>
              </a:spcBef>
            </a:pPr>
            <a:endParaRPr lang="en-US" altLang="en-US" sz="28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</p:txBody>
      </p:sp>
      <p:sp>
        <p:nvSpPr>
          <p:cNvPr id="33" name="TextBox 10"/>
          <p:cNvSpPr txBox="1"/>
          <p:nvPr/>
        </p:nvSpPr>
        <p:spPr>
          <a:xfrm>
            <a:off x="279400" y="2546350"/>
            <a:ext cx="1407795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IN" altLang="en-US" sz="3200" b="1" spc="139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Dividing the Board into smaller sub problems</a:t>
            </a:r>
            <a:endParaRPr lang="en-IN" altLang="en-US" sz="3200" b="1" spc="139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D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152400" y="800100"/>
            <a:ext cx="14077950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00"/>
              </a:lnSpc>
              <a:spcBef>
                <a:spcPct val="0"/>
              </a:spcBef>
            </a:pPr>
            <a:r>
              <a:rPr lang="en-IN" altLang="en-US" sz="10000" spc="-199">
                <a:solidFill>
                  <a:srgbClr val="0D6EFD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rPr>
              <a:t>Divide and Conquer</a:t>
            </a:r>
            <a:endParaRPr lang="en-IN" altLang="en-US" sz="10000" spc="-199">
              <a:solidFill>
                <a:srgbClr val="0D6EFD"/>
              </a:solidFill>
              <a:latin typeface="TT Ramillas" panose="020E0000080000020004"/>
              <a:ea typeface="TT Ramillas" panose="020E0000080000020004"/>
              <a:cs typeface="TT Ramillas" panose="020E0000080000020004"/>
              <a:sym typeface="TT Ramillas" panose="020E0000080000020004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9656445" y="2193290"/>
            <a:ext cx="7336155" cy="7253605"/>
            <a:chOff x="14640" y="3772"/>
            <a:chExt cx="10162" cy="10596"/>
          </a:xfrm>
        </p:grpSpPr>
        <p:sp>
          <p:nvSpPr>
            <p:cNvPr id="25" name="Right Arrow 24"/>
            <p:cNvSpPr/>
            <p:nvPr/>
          </p:nvSpPr>
          <p:spPr>
            <a:xfrm rot="7080000">
              <a:off x="23058" y="6264"/>
              <a:ext cx="960" cy="60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6" name="Right Arrow 25"/>
            <p:cNvSpPr/>
            <p:nvPr/>
          </p:nvSpPr>
          <p:spPr>
            <a:xfrm rot="2880000">
              <a:off x="21064" y="6317"/>
              <a:ext cx="960" cy="60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7" name="Right Arrow 26"/>
            <p:cNvSpPr/>
            <p:nvPr/>
          </p:nvSpPr>
          <p:spPr>
            <a:xfrm rot="7080000">
              <a:off x="17770" y="6445"/>
              <a:ext cx="960" cy="60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8" name="Right Arrow 27"/>
            <p:cNvSpPr/>
            <p:nvPr/>
          </p:nvSpPr>
          <p:spPr>
            <a:xfrm rot="7080000">
              <a:off x="21370" y="9922"/>
              <a:ext cx="960" cy="60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9" name="Right Arrow 28"/>
            <p:cNvSpPr/>
            <p:nvPr/>
          </p:nvSpPr>
          <p:spPr>
            <a:xfrm rot="2880000">
              <a:off x="15536" y="6436"/>
              <a:ext cx="960" cy="60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0" name="Right Arrow 29"/>
            <p:cNvSpPr/>
            <p:nvPr/>
          </p:nvSpPr>
          <p:spPr>
            <a:xfrm rot="2880000">
              <a:off x="18304" y="9973"/>
              <a:ext cx="960" cy="60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640" y="3780"/>
              <a:ext cx="2193" cy="2219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400" y="3802"/>
              <a:ext cx="2233" cy="2197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040" y="3775"/>
              <a:ext cx="2183" cy="2183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630" y="3772"/>
              <a:ext cx="2172" cy="2185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360" y="7491"/>
              <a:ext cx="3953" cy="1939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393" y="7248"/>
              <a:ext cx="4305" cy="2188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8680" y="10864"/>
              <a:ext cx="3543" cy="3504"/>
            </a:xfrm>
            <a:prstGeom prst="rect">
              <a:avLst/>
            </a:prstGeom>
          </p:spPr>
        </p:pic>
      </p:grpSp>
      <p:sp>
        <p:nvSpPr>
          <p:cNvPr id="14" name="Text Box 13"/>
          <p:cNvSpPr txBox="1"/>
          <p:nvPr/>
        </p:nvSpPr>
        <p:spPr>
          <a:xfrm>
            <a:off x="685800" y="2628900"/>
            <a:ext cx="872617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Solve each sub-region independently.</a:t>
            </a:r>
            <a:endParaRPr lang="en-US" altLang="en-US" sz="36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Use first-row enumeration.</a:t>
            </a:r>
            <a:endParaRPr lang="en-US" altLang="en-US" sz="36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Apply chase-down strategy.</a:t>
            </a:r>
            <a:endParaRPr lang="en-US" altLang="en-US" sz="36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Verify correctness before applying moves.</a:t>
            </a:r>
            <a:endParaRPr lang="en-US" altLang="en-US" sz="36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66750" y="666750"/>
            <a:ext cx="8324850" cy="8953500"/>
            <a:chOff x="0" y="0"/>
            <a:chExt cx="1289737" cy="13871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9737" cy="1387131"/>
            </a:xfrm>
            <a:custGeom>
              <a:avLst/>
              <a:gdLst/>
              <a:ahLst/>
              <a:cxnLst/>
              <a:rect l="l" t="t" r="r" b="b"/>
              <a:pathLst>
                <a:path w="1289737" h="1387131">
                  <a:moveTo>
                    <a:pt x="0" y="0"/>
                  </a:moveTo>
                  <a:lnTo>
                    <a:pt x="1289737" y="0"/>
                  </a:lnTo>
                  <a:lnTo>
                    <a:pt x="1289737" y="1387131"/>
                  </a:lnTo>
                  <a:lnTo>
                    <a:pt x="0" y="1387131"/>
                  </a:lnTo>
                  <a:close/>
                </a:path>
              </a:pathLst>
            </a:custGeom>
            <a:blipFill>
              <a:blip r:embed="rId1"/>
              <a:stretch>
                <a:fillRect t="-258" b="-258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0088880" y="5219700"/>
            <a:ext cx="7509510" cy="2564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000"/>
              </a:lnSpc>
              <a:spcBef>
                <a:spcPct val="0"/>
              </a:spcBef>
            </a:pPr>
            <a:r>
              <a:rPr lang="en-IN" altLang="en-US" sz="10000" u="none" strike="noStrike" spc="-199">
                <a:solidFill>
                  <a:srgbClr val="D3D3D3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rPr>
              <a:t>Chase-Down Strategy</a:t>
            </a:r>
            <a:endParaRPr lang="en-IN" altLang="en-US" sz="10000" u="none" strike="noStrike" spc="-199">
              <a:solidFill>
                <a:srgbClr val="D3D3D3"/>
              </a:solidFill>
              <a:latin typeface="TT Ramillas" panose="020E0000080000020004"/>
              <a:ea typeface="TT Ramillas" panose="020E0000080000020004"/>
              <a:cs typeface="TT Ramillas" panose="020E0000080000020004"/>
              <a:sym typeface="TT Ramillas" panose="020E0000080000020004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D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2705100"/>
            <a:ext cx="9088120" cy="6032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altLang="en-US" sz="32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After selecting a flip pattern for the first row, the remaining rows are solved using the chase-down method.</a:t>
            </a:r>
            <a:endParaRPr lang="en-US" altLang="en-US" sz="32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  <a:p>
            <a:pPr algn="l">
              <a:lnSpc>
                <a:spcPts val="3920"/>
              </a:lnSpc>
            </a:pPr>
            <a:endParaRPr lang="en-US" altLang="en-US" sz="32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  <a:p>
            <a:pPr algn="l">
              <a:lnSpc>
                <a:spcPts val="3920"/>
              </a:lnSpc>
            </a:pPr>
            <a:r>
              <a:rPr lang="en-US" altLang="en-US" sz="32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If any cell in the previous row is black (0), we must flip the cell directly below it.</a:t>
            </a:r>
            <a:endParaRPr lang="en-US" altLang="en-US" sz="32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  <a:p>
            <a:pPr algn="l">
              <a:lnSpc>
                <a:spcPts val="3920"/>
              </a:lnSpc>
            </a:pPr>
            <a:r>
              <a:rPr lang="en-US" altLang="en-US" sz="32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This forces the previous row to become white.</a:t>
            </a:r>
            <a:endParaRPr lang="en-US" altLang="en-US" sz="32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  <a:p>
            <a:pPr algn="l">
              <a:lnSpc>
                <a:spcPts val="3920"/>
              </a:lnSpc>
            </a:pPr>
            <a:r>
              <a:rPr lang="en-US" altLang="en-US" sz="32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By repeating this process row by row, all black cells are pushed downward and eliminated.</a:t>
            </a:r>
            <a:endParaRPr lang="en-US" altLang="en-US" sz="32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  <a:p>
            <a:pPr algn="l">
              <a:lnSpc>
                <a:spcPts val="3920"/>
              </a:lnSpc>
            </a:pPr>
            <a:endParaRPr lang="en-US" altLang="en-US" sz="32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  <a:p>
            <a:pPr algn="l">
              <a:lnSpc>
                <a:spcPts val="3920"/>
              </a:lnSpc>
            </a:pPr>
            <a:r>
              <a:rPr lang="en-US" altLang="en-US" sz="32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At the end, if the last row is completely white, the solution is valid.</a:t>
            </a:r>
            <a:endParaRPr lang="en-US" altLang="en-US" sz="32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66750" y="809625"/>
            <a:ext cx="14077950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00"/>
              </a:lnSpc>
              <a:spcBef>
                <a:spcPct val="0"/>
              </a:spcBef>
            </a:pPr>
            <a:r>
              <a:rPr lang="en-IN" altLang="en-US" sz="10000" spc="-199">
                <a:solidFill>
                  <a:srgbClr val="212529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rPr>
              <a:t>How chase-down works?</a:t>
            </a:r>
            <a:endParaRPr lang="en-IN" altLang="en-US" sz="10000" spc="-199">
              <a:solidFill>
                <a:srgbClr val="212529"/>
              </a:solidFill>
              <a:latin typeface="TT Ramillas" panose="020E0000080000020004"/>
              <a:ea typeface="TT Ramillas" panose="020E0000080000020004"/>
              <a:cs typeface="TT Ramillas" panose="020E0000080000020004"/>
              <a:sym typeface="TT Ramillas" panose="020E00000800000200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1340" y="2324100"/>
            <a:ext cx="2887345" cy="29197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5600700"/>
            <a:ext cx="2940685" cy="28765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9065" y="2324100"/>
            <a:ext cx="2849880" cy="286639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0" y="5600700"/>
            <a:ext cx="2823845" cy="2823845"/>
          </a:xfrm>
          <a:prstGeom prst="rect">
            <a:avLst/>
          </a:prstGeom>
        </p:spPr>
      </p:pic>
      <p:sp>
        <p:nvSpPr>
          <p:cNvPr id="11" name="Rectangles 10"/>
          <p:cNvSpPr/>
          <p:nvPr/>
        </p:nvSpPr>
        <p:spPr>
          <a:xfrm>
            <a:off x="12694285" y="6543675"/>
            <a:ext cx="914400" cy="990600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s 11"/>
          <p:cNvSpPr/>
          <p:nvPr/>
        </p:nvSpPr>
        <p:spPr>
          <a:xfrm>
            <a:off x="10744200" y="3326130"/>
            <a:ext cx="914400" cy="925830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Rectangles 12"/>
          <p:cNvSpPr/>
          <p:nvPr/>
        </p:nvSpPr>
        <p:spPr>
          <a:xfrm>
            <a:off x="16082645" y="4222115"/>
            <a:ext cx="914400" cy="968375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D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7103" y="677956"/>
            <a:ext cx="16901832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00"/>
              </a:lnSpc>
              <a:spcBef>
                <a:spcPct val="0"/>
              </a:spcBef>
            </a:pPr>
            <a:r>
              <a:rPr lang="en-US" altLang="en-US" sz="10000" spc="-199">
                <a:solidFill>
                  <a:srgbClr val="212529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rPr>
              <a:t>How the Last Row is Solved</a:t>
            </a:r>
            <a:r>
              <a:rPr lang="en-IN" altLang="en-US" sz="10000" spc="-199">
                <a:solidFill>
                  <a:srgbClr val="212529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rPr>
              <a:t>?</a:t>
            </a:r>
            <a:endParaRPr lang="en-IN" altLang="en-US" sz="10000" spc="-199">
              <a:solidFill>
                <a:srgbClr val="212529"/>
              </a:solidFill>
              <a:latin typeface="TT Ramillas" panose="020E0000080000020004"/>
              <a:ea typeface="TT Ramillas" panose="020E0000080000020004"/>
              <a:cs typeface="TT Ramillas" panose="020E0000080000020004"/>
              <a:sym typeface="TT Ramillas" panose="020E00000800000200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77215" y="2282825"/>
            <a:ext cx="10067925" cy="92335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60" lvl="1" indent="0" algn="l">
              <a:lnSpc>
                <a:spcPct val="100000"/>
              </a:lnSpc>
              <a:buFont typeface="Arial" panose="020B0604020202020204"/>
              <a:buNone/>
            </a:pPr>
            <a:r>
              <a:rPr lang="en-US" altLang="en-US" sz="3600">
                <a:solidFill>
                  <a:srgbClr val="212529"/>
                </a:solidFill>
                <a:latin typeface="Calibri" panose="020F0502020204030204" charset="0"/>
                <a:ea typeface="TT Interphases" panose="02000503020000020004"/>
                <a:cs typeface="Calibri" panose="020F0502020204030204" charset="0"/>
                <a:sym typeface="TT Interphases" panose="02000503020000020004"/>
              </a:rPr>
              <a:t>After applying the chase-down strategy, all rows except the last row are forced to become white.</a:t>
            </a:r>
            <a:endParaRPr lang="en-US" altLang="en-US" sz="3600">
              <a:solidFill>
                <a:srgbClr val="212529"/>
              </a:solidFill>
              <a:latin typeface="Calibri" panose="020F0502020204030204" charset="0"/>
              <a:ea typeface="TT Interphases" panose="02000503020000020004"/>
              <a:cs typeface="Calibri" panose="020F0502020204030204" charset="0"/>
              <a:sym typeface="TT Interphases" panose="02000503020000020004"/>
            </a:endParaRPr>
          </a:p>
          <a:p>
            <a:pPr marL="302260" lvl="1" indent="0" algn="l">
              <a:lnSpc>
                <a:spcPct val="100000"/>
              </a:lnSpc>
              <a:buFont typeface="Arial" panose="020B0604020202020204"/>
              <a:buNone/>
            </a:pPr>
            <a:endParaRPr lang="en-US" altLang="en-US" sz="3600">
              <a:solidFill>
                <a:srgbClr val="212529"/>
              </a:solidFill>
              <a:latin typeface="Calibri" panose="020F0502020204030204" charset="0"/>
              <a:ea typeface="TT Interphases" panose="02000503020000020004"/>
              <a:cs typeface="Calibri" panose="020F0502020204030204" charset="0"/>
              <a:sym typeface="TT Interphases" panose="02000503020000020004"/>
            </a:endParaRPr>
          </a:p>
          <a:p>
            <a:pPr marL="302260" lvl="1" indent="0" algn="l">
              <a:lnSpc>
                <a:spcPct val="100000"/>
              </a:lnSpc>
              <a:buFont typeface="Arial" panose="020B0604020202020204"/>
              <a:buNone/>
            </a:pPr>
            <a:r>
              <a:rPr lang="en-US" altLang="en-US" sz="3600">
                <a:solidFill>
                  <a:srgbClr val="212529"/>
                </a:solidFill>
                <a:latin typeface="Calibri" panose="020F0502020204030204" charset="0"/>
                <a:ea typeface="TT Interphases" panose="02000503020000020004"/>
                <a:cs typeface="Calibri" panose="020F0502020204030204" charset="0"/>
                <a:sym typeface="TT Interphases" panose="02000503020000020004"/>
              </a:rPr>
              <a:t>At this stage:</a:t>
            </a:r>
            <a:endParaRPr lang="en-US" altLang="en-US" sz="3600">
              <a:solidFill>
                <a:srgbClr val="212529"/>
              </a:solidFill>
              <a:latin typeface="Calibri" panose="020F0502020204030204" charset="0"/>
              <a:ea typeface="TT Interphases" panose="02000503020000020004"/>
              <a:cs typeface="Calibri" panose="020F0502020204030204" charset="0"/>
              <a:sym typeface="TT Interphases" panose="02000503020000020004"/>
            </a:endParaRPr>
          </a:p>
          <a:p>
            <a:pPr marL="1518920" lvl="3" indent="-302260" algn="l">
              <a:lnSpc>
                <a:spcPct val="100000"/>
              </a:lnSpc>
              <a:buFont typeface="Arial" panose="020B0604020202020204"/>
              <a:buChar char="•"/>
            </a:pPr>
            <a:r>
              <a:rPr lang="en-US" altLang="en-US" sz="3600">
                <a:solidFill>
                  <a:srgbClr val="212529"/>
                </a:solidFill>
                <a:latin typeface="Calibri" panose="020F0502020204030204" charset="0"/>
                <a:ea typeface="TT Interphases" panose="02000503020000020004"/>
                <a:cs typeface="Calibri" panose="020F0502020204030204" charset="0"/>
                <a:sym typeface="TT Interphases" panose="02000503020000020004"/>
              </a:rPr>
              <a:t>The last row depends completely on the first-row choices.</a:t>
            </a:r>
            <a:endParaRPr lang="en-US" altLang="en-US" sz="3600">
              <a:solidFill>
                <a:srgbClr val="212529"/>
              </a:solidFill>
              <a:latin typeface="Calibri" panose="020F0502020204030204" charset="0"/>
              <a:ea typeface="TT Interphases" panose="02000503020000020004"/>
              <a:cs typeface="Calibri" panose="020F0502020204030204" charset="0"/>
              <a:sym typeface="TT Interphases" panose="02000503020000020004"/>
            </a:endParaRPr>
          </a:p>
          <a:p>
            <a:pPr marL="604520" lvl="1" indent="-302260" algn="l">
              <a:lnSpc>
                <a:spcPct val="100000"/>
              </a:lnSpc>
              <a:buFont typeface="Arial" panose="020B0604020202020204"/>
              <a:buChar char="•"/>
            </a:pPr>
            <a:endParaRPr lang="en-US" altLang="en-US" sz="3600">
              <a:solidFill>
                <a:srgbClr val="212529"/>
              </a:solidFill>
              <a:latin typeface="Calibri" panose="020F0502020204030204" charset="0"/>
              <a:ea typeface="TT Interphases" panose="02000503020000020004"/>
              <a:cs typeface="Calibri" panose="020F0502020204030204" charset="0"/>
              <a:sym typeface="TT Interphases" panose="02000503020000020004"/>
            </a:endParaRPr>
          </a:p>
          <a:p>
            <a:pPr marL="1518920" lvl="3" indent="-302260" algn="l">
              <a:lnSpc>
                <a:spcPct val="100000"/>
              </a:lnSpc>
              <a:buFont typeface="Arial" panose="020B0604020202020204"/>
              <a:buChar char="•"/>
            </a:pPr>
            <a:r>
              <a:rPr lang="en-US" altLang="en-US" sz="3600">
                <a:solidFill>
                  <a:srgbClr val="212529"/>
                </a:solidFill>
                <a:latin typeface="Calibri" panose="020F0502020204030204" charset="0"/>
                <a:ea typeface="TT Interphases" panose="02000503020000020004"/>
                <a:cs typeface="Calibri" panose="020F0502020204030204" charset="0"/>
                <a:sym typeface="TT Interphases" panose="02000503020000020004"/>
              </a:rPr>
              <a:t>We cannot flip below the last row, so we must verify correctness.</a:t>
            </a:r>
            <a:endParaRPr lang="en-US" altLang="en-US" sz="3600">
              <a:solidFill>
                <a:srgbClr val="212529"/>
              </a:solidFill>
              <a:latin typeface="Calibri" panose="020F0502020204030204" charset="0"/>
              <a:ea typeface="TT Interphases" panose="02000503020000020004"/>
              <a:cs typeface="Calibri" panose="020F0502020204030204" charset="0"/>
              <a:sym typeface="TT Interphases" panose="02000503020000020004"/>
            </a:endParaRPr>
          </a:p>
          <a:p>
            <a:pPr marL="1216660" lvl="3" indent="0" algn="l">
              <a:lnSpc>
                <a:spcPct val="100000"/>
              </a:lnSpc>
              <a:buFont typeface="Arial" panose="020B0604020202020204"/>
              <a:buNone/>
            </a:pPr>
            <a:endParaRPr lang="en-US" altLang="en-US" sz="3600">
              <a:solidFill>
                <a:srgbClr val="212529"/>
              </a:solidFill>
              <a:latin typeface="Calibri" panose="020F0502020204030204" charset="0"/>
              <a:ea typeface="TT Interphases" panose="02000503020000020004"/>
              <a:cs typeface="Calibri" panose="020F0502020204030204" charset="0"/>
              <a:sym typeface="TT Interphases" panose="02000503020000020004"/>
            </a:endParaRPr>
          </a:p>
          <a:p>
            <a:pPr marL="604520" lvl="1" indent="-302260" algn="l">
              <a:lnSpc>
                <a:spcPct val="100000"/>
              </a:lnSpc>
              <a:buFont typeface="Arial" panose="020B0604020202020204"/>
              <a:buChar char="•"/>
            </a:pPr>
            <a:r>
              <a:rPr lang="en-US" altLang="en-US" sz="3600">
                <a:solidFill>
                  <a:srgbClr val="212529"/>
                </a:solidFill>
                <a:latin typeface="Calibri" panose="020F0502020204030204" charset="0"/>
                <a:ea typeface="TT Interphases" panose="02000503020000020004"/>
                <a:cs typeface="Calibri" panose="020F0502020204030204" charset="0"/>
                <a:sym typeface="TT Interphases" panose="02000503020000020004"/>
              </a:rPr>
              <a:t>If the entire last row is white, the solution is valid.</a:t>
            </a:r>
            <a:endParaRPr lang="en-US" altLang="en-US" sz="3600">
              <a:solidFill>
                <a:srgbClr val="212529"/>
              </a:solidFill>
              <a:latin typeface="Calibri" panose="020F0502020204030204" charset="0"/>
              <a:ea typeface="TT Interphases" panose="02000503020000020004"/>
              <a:cs typeface="Calibri" panose="020F0502020204030204" charset="0"/>
              <a:sym typeface="TT Interphases" panose="02000503020000020004"/>
            </a:endParaRPr>
          </a:p>
          <a:p>
            <a:pPr marL="604520" lvl="1" indent="-302260" algn="l">
              <a:lnSpc>
                <a:spcPct val="100000"/>
              </a:lnSpc>
              <a:buFont typeface="Arial" panose="020B0604020202020204"/>
              <a:buChar char="•"/>
            </a:pPr>
            <a:endParaRPr lang="en-US" altLang="en-US" sz="3600">
              <a:solidFill>
                <a:srgbClr val="212529"/>
              </a:solidFill>
              <a:latin typeface="Calibri" panose="020F0502020204030204" charset="0"/>
              <a:ea typeface="TT Interphases" panose="02000503020000020004"/>
              <a:cs typeface="Calibri" panose="020F0502020204030204" charset="0"/>
              <a:sym typeface="TT Interphases" panose="02000503020000020004"/>
            </a:endParaRPr>
          </a:p>
          <a:p>
            <a:pPr marL="604520" lvl="1" indent="-302260" algn="l">
              <a:lnSpc>
                <a:spcPct val="100000"/>
              </a:lnSpc>
              <a:buFont typeface="Arial" panose="020B0604020202020204"/>
              <a:buChar char="•"/>
            </a:pPr>
            <a:r>
              <a:rPr lang="en-US" altLang="en-US" sz="3600">
                <a:solidFill>
                  <a:srgbClr val="212529"/>
                </a:solidFill>
                <a:latin typeface="Calibri" panose="020F0502020204030204" charset="0"/>
                <a:ea typeface="TT Interphases" panose="02000503020000020004"/>
                <a:cs typeface="Calibri" panose="020F0502020204030204" charset="0"/>
                <a:sym typeface="TT Interphases" panose="02000503020000020004"/>
              </a:rPr>
              <a:t>If any black cell remains, the chosen first-row pattern is discarded, and we try a new pattern.</a:t>
            </a:r>
            <a:endParaRPr lang="en-US" altLang="en-US" sz="3600">
              <a:solidFill>
                <a:srgbClr val="212529"/>
              </a:solidFill>
              <a:latin typeface="Calibri" panose="020F0502020204030204" charset="0"/>
              <a:ea typeface="TT Interphases" panose="02000503020000020004"/>
              <a:cs typeface="Calibri" panose="020F0502020204030204" charset="0"/>
              <a:sym typeface="TT Interphases" panose="02000503020000020004"/>
            </a:endParaRPr>
          </a:p>
          <a:p>
            <a:pPr algn="l">
              <a:lnSpc>
                <a:spcPct val="100000"/>
              </a:lnSpc>
            </a:pPr>
            <a:endParaRPr sz="2400">
              <a:latin typeface="Calibri" panose="020F0502020204030204" charset="0"/>
              <a:cs typeface="Calibri" panose="020F0502020204030204" charset="0"/>
            </a:endParaRPr>
          </a:p>
          <a:p>
            <a:pPr algn="l">
              <a:lnSpc>
                <a:spcPct val="100000"/>
              </a:lnSpc>
            </a:pPr>
            <a:endParaRPr sz="2400">
              <a:latin typeface="Calibri" panose="020F0502020204030204" charset="0"/>
              <a:cs typeface="Calibri" panose="020F0502020204030204" charset="0"/>
            </a:endParaRPr>
          </a:p>
          <a:p>
            <a:pPr algn="l">
              <a:lnSpc>
                <a:spcPct val="100000"/>
              </a:lnSpc>
            </a:pPr>
            <a:endParaRPr sz="2400"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>
              <a:lnSpc>
                <a:spcPct val="100000"/>
              </a:lnSpc>
              <a:spcBef>
                <a:spcPct val="0"/>
              </a:spcBef>
            </a:pPr>
            <a:endParaRPr sz="240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6800" y="4991100"/>
            <a:ext cx="2524760" cy="24828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7734300"/>
            <a:ext cx="2559685" cy="25038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0" y="2160905"/>
            <a:ext cx="2540635" cy="25266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9400" y="4991100"/>
            <a:ext cx="2464435" cy="24237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020" y="2160905"/>
            <a:ext cx="2552700" cy="2552700"/>
          </a:xfrm>
          <a:prstGeom prst="rect">
            <a:avLst/>
          </a:prstGeom>
        </p:spPr>
      </p:pic>
      <p:sp>
        <p:nvSpPr>
          <p:cNvPr id="11" name="Rectangles 10"/>
          <p:cNvSpPr/>
          <p:nvPr/>
        </p:nvSpPr>
        <p:spPr>
          <a:xfrm>
            <a:off x="11182350" y="2171700"/>
            <a:ext cx="857250" cy="847090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s 11"/>
          <p:cNvSpPr/>
          <p:nvPr/>
        </p:nvSpPr>
        <p:spPr>
          <a:xfrm>
            <a:off x="12027535" y="2171700"/>
            <a:ext cx="857250" cy="847090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Rectangles 12"/>
          <p:cNvSpPr/>
          <p:nvPr/>
        </p:nvSpPr>
        <p:spPr>
          <a:xfrm>
            <a:off x="12954000" y="5800090"/>
            <a:ext cx="857250" cy="847090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Rectangles 13"/>
          <p:cNvSpPr/>
          <p:nvPr/>
        </p:nvSpPr>
        <p:spPr>
          <a:xfrm>
            <a:off x="11226800" y="9401175"/>
            <a:ext cx="857250" cy="847090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s 14"/>
          <p:cNvSpPr/>
          <p:nvPr/>
        </p:nvSpPr>
        <p:spPr>
          <a:xfrm>
            <a:off x="15849600" y="3848100"/>
            <a:ext cx="857250" cy="847090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66750" y="666750"/>
            <a:ext cx="8324850" cy="8953500"/>
            <a:chOff x="0" y="0"/>
            <a:chExt cx="1289737" cy="13871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9737" cy="1387131"/>
            </a:xfrm>
            <a:custGeom>
              <a:avLst/>
              <a:gdLst/>
              <a:ahLst/>
              <a:cxnLst/>
              <a:rect l="l" t="t" r="r" b="b"/>
              <a:pathLst>
                <a:path w="1289737" h="1387131">
                  <a:moveTo>
                    <a:pt x="0" y="0"/>
                  </a:moveTo>
                  <a:lnTo>
                    <a:pt x="1289737" y="0"/>
                  </a:lnTo>
                  <a:lnTo>
                    <a:pt x="1289737" y="1387131"/>
                  </a:lnTo>
                  <a:lnTo>
                    <a:pt x="0" y="1387131"/>
                  </a:lnTo>
                  <a:close/>
                </a:path>
              </a:pathLst>
            </a:custGeom>
            <a:blipFill>
              <a:blip r:embed="rId1"/>
              <a:stretch>
                <a:fillRect t="-258" b="-258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0734675" y="5756276"/>
            <a:ext cx="6886575" cy="3863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00"/>
              </a:lnSpc>
              <a:spcBef>
                <a:spcPct val="0"/>
              </a:spcBef>
            </a:pPr>
            <a:r>
              <a:rPr lang="en-US" sz="10000" u="none" strike="noStrike" spc="-199">
                <a:solidFill>
                  <a:srgbClr val="D3D3D3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rPr>
              <a:t>Computer Move Integration</a:t>
            </a:r>
            <a:endParaRPr lang="en-US" sz="10000" u="none" strike="noStrike" spc="-199">
              <a:solidFill>
                <a:srgbClr val="D3D3D3"/>
              </a:solidFill>
              <a:latin typeface="TT Ramillas" panose="020E0000080000020004"/>
              <a:ea typeface="TT Ramillas" panose="020E0000080000020004"/>
              <a:cs typeface="TT Ramillas" panose="020E0000080000020004"/>
              <a:sym typeface="TT Ramillas" panose="020E00000800000200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D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66750" y="809625"/>
            <a:ext cx="14077950" cy="2069465"/>
            <a:chOff x="0" y="190500"/>
            <a:chExt cx="18770600" cy="2759287"/>
          </a:xfrm>
        </p:grpSpPr>
        <p:sp>
          <p:nvSpPr>
            <p:cNvPr id="3" name="TextBox 3"/>
            <p:cNvSpPr txBox="1"/>
            <p:nvPr/>
          </p:nvSpPr>
          <p:spPr>
            <a:xfrm>
              <a:off x="0" y="190500"/>
              <a:ext cx="18770600" cy="1709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000"/>
                </a:lnSpc>
                <a:spcBef>
                  <a:spcPct val="0"/>
                </a:spcBef>
              </a:pPr>
              <a:r>
                <a:rPr lang="en-IN" altLang="en-US" sz="10000" spc="-199">
                  <a:solidFill>
                    <a:srgbClr val="0D6EFD"/>
                  </a:solidFill>
                  <a:latin typeface="TT Ramillas" panose="020E0000080000020004"/>
                  <a:ea typeface="TT Ramillas" panose="020E0000080000020004"/>
                  <a:cs typeface="TT Ramillas" panose="020E0000080000020004"/>
                  <a:sym typeface="TT Ramillas" panose="020E0000080000020004"/>
                </a:rPr>
                <a:t>Computer</a:t>
              </a:r>
              <a:r>
                <a:rPr lang="en-US" sz="10000" spc="-199">
                  <a:solidFill>
                    <a:srgbClr val="0D6EFD"/>
                  </a:solidFill>
                  <a:latin typeface="TT Ramillas" panose="020E0000080000020004"/>
                  <a:ea typeface="TT Ramillas" panose="020E0000080000020004"/>
                  <a:cs typeface="TT Ramillas" panose="020E0000080000020004"/>
                  <a:sym typeface="TT Ramillas" panose="020E0000080000020004"/>
                </a:rPr>
                <a:t> Helper</a:t>
              </a:r>
              <a:endParaRPr lang="en-US" sz="10000" spc="-199">
                <a:solidFill>
                  <a:srgbClr val="0D6EFD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349500"/>
              <a:ext cx="18770600" cy="6002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800" spc="139">
                  <a:solidFill>
                    <a:srgbClr val="212529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ENHANCING USER EXPERIENCE WITH INTELLIGENT MOVES</a:t>
              </a:r>
              <a:endParaRPr lang="en-US" sz="2800" spc="139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</p:txBody>
        </p:sp>
      </p:grpSp>
      <p:sp>
        <p:nvSpPr>
          <p:cNvPr id="5" name="TextBox 5"/>
          <p:cNvSpPr txBox="1"/>
          <p:nvPr>
            <p:custDataLst>
              <p:tags r:id="rId1"/>
            </p:custDataLst>
          </p:nvPr>
        </p:nvSpPr>
        <p:spPr>
          <a:xfrm>
            <a:off x="914400" y="3848100"/>
            <a:ext cx="4805680" cy="448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altLang="en-US" sz="3500" spc="-69">
                <a:solidFill>
                  <a:srgbClr val="212529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rPr>
              <a:t>Subproblem Strategy</a:t>
            </a:r>
            <a:endParaRPr lang="en-US" altLang="en-US" sz="3500" spc="-69">
              <a:solidFill>
                <a:srgbClr val="212529"/>
              </a:solidFill>
              <a:latin typeface="TT Ramillas" panose="020E0000080000020004"/>
              <a:ea typeface="TT Ramillas" panose="020E0000080000020004"/>
              <a:cs typeface="TT Ramillas" panose="020E0000080000020004"/>
              <a:sym typeface="TT Ramillas" panose="020E0000080000020004"/>
            </a:endParaRPr>
          </a:p>
        </p:txBody>
      </p:sp>
      <p:sp>
        <p:nvSpPr>
          <p:cNvPr id="6" name="TextBox 6"/>
          <p:cNvSpPr txBox="1"/>
          <p:nvPr>
            <p:custDataLst>
              <p:tags r:id="rId2"/>
            </p:custDataLst>
          </p:nvPr>
        </p:nvSpPr>
        <p:spPr>
          <a:xfrm>
            <a:off x="1038225" y="4610100"/>
            <a:ext cx="4733290" cy="51346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IN" altLang="en-US" sz="26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T</a:t>
            </a:r>
            <a:r>
              <a:rPr lang="en-US" altLang="en-US" sz="26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he board is divided into structured regions.</a:t>
            </a:r>
            <a:endParaRPr lang="en-US" altLang="en-US" sz="26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altLang="en-US" sz="26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The algorithm solves smaller subproblems first:</a:t>
            </a:r>
            <a:endParaRPr lang="en-US" altLang="en-US" sz="26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endParaRPr lang="en-US" altLang="en-US" sz="26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altLang="en-US" sz="26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Each region is solved independently using the chase-down technique.</a:t>
            </a:r>
            <a:endParaRPr lang="en-US" altLang="en-US" sz="26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endParaRPr lang="en-US" altLang="en-US" sz="26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altLang="en-US" sz="26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This reduces </a:t>
            </a:r>
            <a:r>
              <a:rPr lang="en-IN" altLang="en-US" sz="26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search space </a:t>
            </a:r>
            <a:r>
              <a:rPr lang="en-US" altLang="en-US" sz="26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and ensures systematic solving.</a:t>
            </a:r>
            <a:endParaRPr lang="en-US" altLang="en-US" sz="26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</p:txBody>
      </p:sp>
      <p:sp>
        <p:nvSpPr>
          <p:cNvPr id="8" name="TextBox 8"/>
          <p:cNvSpPr txBox="1"/>
          <p:nvPr>
            <p:custDataLst>
              <p:tags r:id="rId3"/>
            </p:custDataLst>
          </p:nvPr>
        </p:nvSpPr>
        <p:spPr>
          <a:xfrm>
            <a:off x="6858197" y="3845814"/>
            <a:ext cx="4010025" cy="450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sz="3500" spc="-69">
                <a:solidFill>
                  <a:srgbClr val="212529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rPr>
              <a:t>Animation Effects</a:t>
            </a:r>
            <a:endParaRPr lang="en-US" sz="3500" spc="-69">
              <a:solidFill>
                <a:srgbClr val="212529"/>
              </a:solidFill>
              <a:latin typeface="TT Ramillas" panose="020E0000080000020004"/>
              <a:ea typeface="TT Ramillas" panose="020E0000080000020004"/>
              <a:cs typeface="TT Ramillas" panose="020E0000080000020004"/>
              <a:sym typeface="TT Ramillas" panose="020E0000080000020004"/>
            </a:endParaRPr>
          </a:p>
        </p:txBody>
      </p:sp>
      <p:sp>
        <p:nvSpPr>
          <p:cNvPr id="9" name="TextBox 9"/>
          <p:cNvSpPr txBox="1"/>
          <p:nvPr>
            <p:custDataLst>
              <p:tags r:id="rId4"/>
            </p:custDataLst>
          </p:nvPr>
        </p:nvSpPr>
        <p:spPr>
          <a:xfrm>
            <a:off x="6934397" y="4610353"/>
            <a:ext cx="4000303" cy="319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Computer moves are animated with highlights and delays, creating a dynamic visual experience that engages players and enhances the overall interaction with the game.</a:t>
            </a:r>
            <a:endParaRPr lang="en-US" sz="26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</p:txBody>
      </p:sp>
      <p:sp>
        <p:nvSpPr>
          <p:cNvPr id="11" name="TextBox 11"/>
          <p:cNvSpPr txBox="1"/>
          <p:nvPr>
            <p:custDataLst>
              <p:tags r:id="rId5"/>
            </p:custDataLst>
          </p:nvPr>
        </p:nvSpPr>
        <p:spPr>
          <a:xfrm>
            <a:off x="12544818" y="3845854"/>
            <a:ext cx="4010025" cy="450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sz="3500" spc="-69">
                <a:solidFill>
                  <a:srgbClr val="212529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rPr>
              <a:t>Undo Stack</a:t>
            </a:r>
            <a:endParaRPr lang="en-US" sz="3500" spc="-69">
              <a:solidFill>
                <a:srgbClr val="212529"/>
              </a:solidFill>
              <a:latin typeface="TT Ramillas" panose="020E0000080000020004"/>
              <a:ea typeface="TT Ramillas" panose="020E0000080000020004"/>
              <a:cs typeface="TT Ramillas" panose="020E0000080000020004"/>
              <a:sym typeface="TT Ramillas" panose="020E0000080000020004"/>
            </a:endParaRPr>
          </a:p>
        </p:txBody>
      </p:sp>
      <p:sp>
        <p:nvSpPr>
          <p:cNvPr id="12" name="TextBox 12"/>
          <p:cNvSpPr txBox="1"/>
          <p:nvPr>
            <p:custDataLst>
              <p:tags r:id="rId6"/>
            </p:custDataLst>
          </p:nvPr>
        </p:nvSpPr>
        <p:spPr>
          <a:xfrm>
            <a:off x="12648958" y="4610393"/>
            <a:ext cx="4000303" cy="319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rPr>
              <a:t>An undo stack allows players to reverse their previous moves, providing flexibility in gameplay and enabling them to strategize effectively without the fear of irreversible mistakes.</a:t>
            </a:r>
            <a:endParaRPr lang="en-US" sz="2600">
              <a:solidFill>
                <a:srgbClr val="212529"/>
              </a:solidFill>
              <a:latin typeface="TT Interphases" panose="02000503020000020004"/>
              <a:ea typeface="TT Interphases" panose="02000503020000020004"/>
              <a:cs typeface="TT Interphases" panose="02000503020000020004"/>
              <a:sym typeface="TT Interphases" panose="02000503020000020004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66750" y="666750"/>
            <a:ext cx="8324850" cy="8953500"/>
            <a:chOff x="0" y="0"/>
            <a:chExt cx="1289737" cy="13871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9737" cy="1387131"/>
            </a:xfrm>
            <a:custGeom>
              <a:avLst/>
              <a:gdLst/>
              <a:ahLst/>
              <a:cxnLst/>
              <a:rect l="l" t="t" r="r" b="b"/>
              <a:pathLst>
                <a:path w="1289737" h="1387131">
                  <a:moveTo>
                    <a:pt x="0" y="0"/>
                  </a:moveTo>
                  <a:lnTo>
                    <a:pt x="1289737" y="0"/>
                  </a:lnTo>
                  <a:lnTo>
                    <a:pt x="1289737" y="1387131"/>
                  </a:lnTo>
                  <a:lnTo>
                    <a:pt x="0" y="1387131"/>
                  </a:lnTo>
                  <a:close/>
                </a:path>
              </a:pathLst>
            </a:custGeom>
            <a:blipFill>
              <a:blip r:embed="rId1"/>
              <a:stretch>
                <a:fillRect t="-258" b="-258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0734675" y="4640580"/>
            <a:ext cx="6886575" cy="4979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75"/>
              </a:lnSpc>
              <a:spcBef>
                <a:spcPct val="0"/>
              </a:spcBef>
            </a:pPr>
            <a:r>
              <a:rPr lang="en-US" sz="9675" u="none" strike="noStrike" spc="-193">
                <a:solidFill>
                  <a:srgbClr val="D3D3D3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rPr>
              <a:t>Performance and Complexity Analysis</a:t>
            </a:r>
            <a:endParaRPr lang="en-US" sz="9675" u="none" strike="noStrike" spc="-193">
              <a:solidFill>
                <a:srgbClr val="D3D3D3"/>
              </a:solidFill>
              <a:latin typeface="TT Ramillas" panose="020E0000080000020004"/>
              <a:ea typeface="TT Ramillas" panose="020E0000080000020004"/>
              <a:cs typeface="TT Ramillas" panose="020E0000080000020004"/>
              <a:sym typeface="TT Ramillas" panose="020E0000080000020004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D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0">
            <a:off x="666750" y="666750"/>
            <a:ext cx="14077950" cy="2212340"/>
            <a:chOff x="0" y="0"/>
            <a:chExt cx="18770600" cy="2949787"/>
          </a:xfrm>
        </p:grpSpPr>
        <p:sp>
          <p:nvSpPr>
            <p:cNvPr id="6" name="TextBox 6"/>
            <p:cNvSpPr txBox="1"/>
            <p:nvPr/>
          </p:nvSpPr>
          <p:spPr>
            <a:xfrm>
              <a:off x="0" y="190500"/>
              <a:ext cx="18770600" cy="18372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000"/>
                </a:lnSpc>
                <a:spcBef>
                  <a:spcPct val="0"/>
                </a:spcBef>
              </a:pPr>
              <a:r>
                <a:rPr lang="en-US" sz="10000" spc="-199">
                  <a:solidFill>
                    <a:srgbClr val="0D6EFD"/>
                  </a:solidFill>
                  <a:latin typeface="TT Ramillas" panose="020E0000080000020004"/>
                  <a:ea typeface="TT Ramillas" panose="020E0000080000020004"/>
                  <a:cs typeface="TT Ramillas" panose="020E0000080000020004"/>
                  <a:sym typeface="TT Ramillas" panose="020E0000080000020004"/>
                </a:rPr>
                <a:t>Complexity Analysis</a:t>
              </a:r>
              <a:endParaRPr lang="en-US" sz="10000" spc="-199">
                <a:solidFill>
                  <a:srgbClr val="0D6EFD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349500"/>
              <a:ext cx="18770600" cy="6002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800" spc="139">
                  <a:solidFill>
                    <a:srgbClr val="212529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TIME AND SPACE CONSIDERATIONS</a:t>
              </a:r>
              <a:endParaRPr lang="en-US" sz="2800" spc="139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819400" y="3695700"/>
            <a:ext cx="4019550" cy="4724400"/>
            <a:chOff x="11234" y="5992"/>
            <a:chExt cx="6330" cy="7440"/>
          </a:xfrm>
        </p:grpSpPr>
        <p:sp>
          <p:nvSpPr>
            <p:cNvPr id="3" name="AutoShape 3"/>
            <p:cNvSpPr/>
            <p:nvPr>
              <p:custDataLst>
                <p:tags r:id="rId1"/>
              </p:custDataLst>
            </p:nvPr>
          </p:nvSpPr>
          <p:spPr>
            <a:xfrm>
              <a:off x="11235" y="7172"/>
              <a:ext cx="6300" cy="0"/>
            </a:xfrm>
            <a:prstGeom prst="line">
              <a:avLst/>
            </a:prstGeom>
            <a:ln w="19050" cap="flat">
              <a:solidFill>
                <a:srgbClr val="21252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" name="TextBox 10"/>
            <p:cNvSpPr txBox="1"/>
            <p:nvPr>
              <p:custDataLst>
                <p:tags r:id="rId2"/>
              </p:custDataLst>
            </p:nvPr>
          </p:nvSpPr>
          <p:spPr>
            <a:xfrm>
              <a:off x="11250" y="5992"/>
              <a:ext cx="6315" cy="7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00"/>
                </a:lnSpc>
              </a:pPr>
              <a:r>
                <a:rPr lang="en-US" sz="3700" spc="-73">
                  <a:solidFill>
                    <a:srgbClr val="212529"/>
                  </a:solidFill>
                  <a:latin typeface="TT Ramillas" panose="020E0000080000020004"/>
                  <a:ea typeface="TT Ramillas" panose="020E0000080000020004"/>
                  <a:cs typeface="TT Ramillas" panose="020E0000080000020004"/>
                  <a:sym typeface="TT Ramillas" panose="020E0000080000020004"/>
                </a:rPr>
                <a:t>Board Operations</a:t>
              </a:r>
              <a:endParaRPr lang="en-US" sz="3700" spc="-73">
                <a:solidFill>
                  <a:srgbClr val="212529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endParaRPr>
            </a:p>
          </p:txBody>
        </p:sp>
        <p:sp>
          <p:nvSpPr>
            <p:cNvPr id="11" name="TextBox 11"/>
            <p:cNvSpPr txBox="1"/>
            <p:nvPr>
              <p:custDataLst>
                <p:tags r:id="rId3"/>
              </p:custDataLst>
            </p:nvPr>
          </p:nvSpPr>
          <p:spPr>
            <a:xfrm>
              <a:off x="11234" y="7980"/>
              <a:ext cx="6300" cy="54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212529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Board operations maintain a complexity of </a:t>
              </a:r>
              <a:r>
                <a:rPr lang="en-US" sz="2800" b="1">
                  <a:solidFill>
                    <a:srgbClr val="212529"/>
                  </a:solidFill>
                  <a:latin typeface="TT Interphases Bold" panose="02000803060000020004"/>
                  <a:ea typeface="TT Interphases Bold" panose="02000803060000020004"/>
                  <a:cs typeface="TT Interphases Bold" panose="02000803060000020004"/>
                  <a:sym typeface="TT Interphases Bold" panose="02000803060000020004"/>
                </a:rPr>
                <a:t>O(n²)</a:t>
              </a:r>
              <a:r>
                <a:rPr lang="en-US" sz="2800">
                  <a:solidFill>
                    <a:srgbClr val="212529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, ensuring efficient processing as the grid size increases, allowing for manageable gameplay dynamics.</a:t>
              </a:r>
              <a:endParaRPr lang="en-US" sz="28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0229850" y="3619500"/>
            <a:ext cx="4028440" cy="4287520"/>
            <a:chOff x="20280" y="5992"/>
            <a:chExt cx="6344" cy="6752"/>
          </a:xfrm>
        </p:grpSpPr>
        <p:sp>
          <p:nvSpPr>
            <p:cNvPr id="4" name="AutoShape 4"/>
            <p:cNvSpPr/>
            <p:nvPr>
              <p:custDataLst>
                <p:tags r:id="rId4"/>
              </p:custDataLst>
            </p:nvPr>
          </p:nvSpPr>
          <p:spPr>
            <a:xfrm>
              <a:off x="20295" y="7172"/>
              <a:ext cx="6300" cy="0"/>
            </a:xfrm>
            <a:prstGeom prst="line">
              <a:avLst/>
            </a:prstGeom>
            <a:ln w="19050" cap="flat">
              <a:solidFill>
                <a:srgbClr val="21252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TextBox 12"/>
            <p:cNvSpPr txBox="1"/>
            <p:nvPr>
              <p:custDataLst>
                <p:tags r:id="rId5"/>
              </p:custDataLst>
            </p:nvPr>
          </p:nvSpPr>
          <p:spPr>
            <a:xfrm>
              <a:off x="20310" y="5992"/>
              <a:ext cx="6315" cy="7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00"/>
                </a:lnSpc>
              </a:pPr>
              <a:r>
                <a:rPr lang="en-IN" altLang="en-US" sz="3700" spc="-73">
                  <a:solidFill>
                    <a:srgbClr val="212529"/>
                  </a:solidFill>
                  <a:latin typeface="TT Ramillas" panose="020E0000080000020004"/>
                  <a:ea typeface="TT Ramillas" panose="020E0000080000020004"/>
                  <a:cs typeface="TT Ramillas" panose="020E0000080000020004"/>
                  <a:sym typeface="TT Ramillas" panose="020E0000080000020004"/>
                </a:rPr>
                <a:t>Chase-Down </a:t>
              </a:r>
              <a:endParaRPr lang="en-IN" altLang="en-US" sz="3700" spc="-73">
                <a:solidFill>
                  <a:srgbClr val="212529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endParaRPr>
            </a:p>
          </p:txBody>
        </p:sp>
        <p:sp>
          <p:nvSpPr>
            <p:cNvPr id="13" name="TextBox 13"/>
            <p:cNvSpPr txBox="1"/>
            <p:nvPr>
              <p:custDataLst>
                <p:tags r:id="rId6"/>
              </p:custDataLst>
            </p:nvPr>
          </p:nvSpPr>
          <p:spPr>
            <a:xfrm>
              <a:off x="20280" y="7994"/>
              <a:ext cx="6300" cy="4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altLang="en-US" sz="2800">
                  <a:solidFill>
                    <a:srgbClr val="212529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Top row has N cells, each can be:</a:t>
              </a:r>
              <a:endParaRPr lang="en-US" altLang="en-US" sz="28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altLang="en-US" sz="2800">
                  <a:solidFill>
                    <a:srgbClr val="212529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Flip (1)</a:t>
              </a:r>
              <a:endParaRPr lang="en-US" altLang="en-US" sz="28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altLang="en-US" sz="2800">
                  <a:solidFill>
                    <a:srgbClr val="212529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Not flip (0)</a:t>
              </a:r>
              <a:endParaRPr lang="en-US" altLang="en-US" sz="28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altLang="en-US" sz="2800">
                  <a:solidFill>
                    <a:srgbClr val="212529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So total possibilities:</a:t>
              </a:r>
              <a:r>
                <a:rPr lang="en-IN" altLang="en-US" sz="2800">
                  <a:solidFill>
                    <a:srgbClr val="212529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 2^N</a:t>
              </a:r>
              <a:br>
                <a:rPr lang="en-IN" altLang="en-US" sz="2800">
                  <a:solidFill>
                    <a:srgbClr val="212529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</a:br>
              <a:r>
                <a:rPr lang="en-IN" altLang="en-US" sz="2800">
                  <a:solidFill>
                    <a:srgbClr val="212529"/>
                  </a:solidFill>
                  <a:latin typeface="TT Interphases" panose="02000503020000020004"/>
                  <a:ea typeface="TT Interphases" panose="02000503020000020004"/>
                  <a:cs typeface="TT Interphases" panose="02000503020000020004"/>
                  <a:sym typeface="TT Interphases" panose="02000503020000020004"/>
                </a:rPr>
                <a:t>O(2^n)</a:t>
              </a:r>
              <a:endParaRPr lang="en-IN" altLang="en-US" sz="2800">
                <a:solidFill>
                  <a:srgbClr val="212529"/>
                </a:solidFill>
                <a:latin typeface="TT Interphases" panose="02000503020000020004"/>
                <a:ea typeface="TT Interphases" panose="02000503020000020004"/>
                <a:cs typeface="TT Interphases" panose="02000503020000020004"/>
                <a:sym typeface="TT Interphases" panose="020005030200000200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D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755120" y="7755890"/>
            <a:ext cx="6247130" cy="2067560"/>
          </a:xfrm>
          <a:custGeom>
            <a:avLst/>
            <a:gdLst/>
            <a:ahLst/>
            <a:cxnLst/>
            <a:rect l="l" t="t" r="r" b="b"/>
            <a:pathLst>
              <a:path w="5928173" h="2067450">
                <a:moveTo>
                  <a:pt x="0" y="0"/>
                </a:moveTo>
                <a:lnTo>
                  <a:pt x="5928173" y="0"/>
                </a:lnTo>
                <a:lnTo>
                  <a:pt x="5928173" y="2067451"/>
                </a:lnTo>
                <a:lnTo>
                  <a:pt x="0" y="206745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981575" y="4573588"/>
            <a:ext cx="8324850" cy="1330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00"/>
              </a:lnSpc>
              <a:spcBef>
                <a:spcPct val="0"/>
              </a:spcBef>
            </a:pPr>
            <a:r>
              <a:rPr lang="en-US" sz="10000" spc="-199">
                <a:solidFill>
                  <a:srgbClr val="212529"/>
                </a:solidFill>
                <a:latin typeface="TT Ramillas" panose="020E0000080000020004"/>
                <a:ea typeface="TT Ramillas" panose="020E0000080000020004"/>
                <a:cs typeface="TT Ramillas" panose="020E0000080000020004"/>
                <a:sym typeface="TT Ramillas" panose="020E0000080000020004"/>
              </a:rPr>
              <a:t>Thank You!</a:t>
            </a:r>
            <a:endParaRPr lang="en-US" sz="10000" spc="-199">
              <a:solidFill>
                <a:srgbClr val="212529"/>
              </a:solidFill>
              <a:latin typeface="TT Ramillas" panose="020E0000080000020004"/>
              <a:ea typeface="TT Ramillas" panose="020E0000080000020004"/>
              <a:cs typeface="TT Ramillas" panose="020E0000080000020004"/>
              <a:sym typeface="TT Ramillas" panose="020E0000080000020004"/>
            </a:endParaRPr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405.091811023622,&quot;left&quot;:108.73448818897637,&quot;top&quot;:363,&quot;width&quot;:769.5155118110237}"/>
</p:tagLst>
</file>

<file path=ppt/tags/tag2.xml><?xml version="1.0" encoding="utf-8"?>
<p:tagLst xmlns:p="http://schemas.openxmlformats.org/presentationml/2006/main">
  <p:tag name="KSO_WM_DIAGRAM_VIRTUALLY_FRAME" val="{&quot;height&quot;:405.091811023622,&quot;left&quot;:108.73448818897637,&quot;top&quot;:363,&quot;width&quot;:769.5155118110237}"/>
</p:tagLst>
</file>

<file path=ppt/tags/tag3.xml><?xml version="1.0" encoding="utf-8"?>
<p:tagLst xmlns:p="http://schemas.openxmlformats.org/presentationml/2006/main">
  <p:tag name="KSO_WM_DIAGRAM_VIRTUALLY_FRAME" val="{&quot;height&quot;:405.091811023622,&quot;left&quot;:108.73448818897637,&quot;top&quot;:363,&quot;width&quot;:769.5155118110237}"/>
</p:tagLst>
</file>

<file path=ppt/tags/tag4.xml><?xml version="1.0" encoding="utf-8"?>
<p:tagLst xmlns:p="http://schemas.openxmlformats.org/presentationml/2006/main">
  <p:tag name="KSO_WM_DIAGRAM_VIRTUALLY_FRAME" val="{&quot;height&quot;:405.091811023622,&quot;left&quot;:108.73448818897637,&quot;top&quot;:363,&quot;width&quot;:769.5155118110237}"/>
</p:tagLst>
</file>

<file path=ppt/tags/tag5.xml><?xml version="1.0" encoding="utf-8"?>
<p:tagLst xmlns:p="http://schemas.openxmlformats.org/presentationml/2006/main">
  <p:tag name="KSO_WM_DIAGRAM_VIRTUALLY_FRAME" val="{&quot;height&quot;:405.091811023622,&quot;left&quot;:108.73448818897637,&quot;top&quot;:363,&quot;width&quot;:769.5155118110237}"/>
</p:tagLst>
</file>

<file path=ppt/tags/tag6.xml><?xml version="1.0" encoding="utf-8"?>
<p:tagLst xmlns:p="http://schemas.openxmlformats.org/presentationml/2006/main">
  <p:tag name="KSO_WM_DIAGRAM_VIRTUALLY_FRAME" val="{&quot;height&quot;:405.091811023622,&quot;left&quot;:108.73448818897637,&quot;top&quot;:363,&quot;width&quot;:769.5155118110237}"/>
</p:tagLst>
</file>

<file path=ppt/tags/tag7.xml><?xml version="1.0" encoding="utf-8"?>
<p:tagLst xmlns:p="http://schemas.openxmlformats.org/presentationml/2006/main">
  <p:tag name="KSO_WM_DIAGRAM_VIRTUALLY_FRAME" val="{&quot;height&quot;:405.091811023622,&quot;left&quot;:108.73448818897637,&quot;top&quot;:363,&quot;width&quot;:769.5155118110237}"/>
</p:tagLst>
</file>

<file path=ppt/tags/tag8.xml><?xml version="1.0" encoding="utf-8"?>
<p:tagLst xmlns:p="http://schemas.openxmlformats.org/presentationml/2006/main">
  <p:tag name="KSO_WM_DIAGRAM_VIRTUALLY_FRAME" val="{&quot;height&quot;:405.091811023622,&quot;left&quot;:108.73448818897637,&quot;top&quot;:363,&quot;width&quot;:769.5155118110237}"/>
</p:tagLst>
</file>

<file path=ppt/tags/tag9.xml><?xml version="1.0" encoding="utf-8"?>
<p:tagLst xmlns:p="http://schemas.openxmlformats.org/presentationml/2006/main">
  <p:tag name="KSO_WM_DIAGRAM_VIRTUALLY_FRAME" val="{&quot;height&quot;:405.091811023622,&quot;left&quot;:108.73448818897637,&quot;top&quot;:363,&quot;width&quot;:769.5155118110237}"/>
</p:tagLst>
</file>

<file path=ppt/tags/tag10.xml><?xml version="1.0" encoding="utf-8"?>
<p:tagLst xmlns:p="http://schemas.openxmlformats.org/presentationml/2006/main">
  <p:tag name="KSO_WM_DIAGRAM_VIRTUALLY_FRAME" val="{&quot;height&quot;:405.091811023622,&quot;left&quot;:108.73448818897637,&quot;top&quot;:363,&quot;width&quot;:769.5155118110237}"/>
</p:tagLst>
</file>

<file path=ppt/tags/tag11.xml><?xml version="1.0" encoding="utf-8"?>
<p:tagLst xmlns:p="http://schemas.openxmlformats.org/presentationml/2006/main">
  <p:tag name="KSO_WM_DIAGRAM_VIRTUALLY_FRAME" val="{&quot;height&quot;:877.6199212598425,&quot;left&quot;:72,&quot;top&quot;:279.25,&quot;width&quot;:1231.5309448818898}"/>
</p:tagLst>
</file>

<file path=ppt/tags/tag12.xml><?xml version="1.0" encoding="utf-8"?>
<p:tagLst xmlns:p="http://schemas.openxmlformats.org/presentationml/2006/main">
  <p:tag name="KSO_WM_DIAGRAM_VIRTUALLY_FRAME" val="{&quot;height&quot;:877.6199212598425,&quot;left&quot;:72,&quot;top&quot;:279.25,&quot;width&quot;:1231.5309448818898}"/>
</p:tagLst>
</file>

<file path=ppt/tags/tag13.xml><?xml version="1.0" encoding="utf-8"?>
<p:tagLst xmlns:p="http://schemas.openxmlformats.org/presentationml/2006/main">
  <p:tag name="KSO_WM_DIAGRAM_VIRTUALLY_FRAME" val="{&quot;height&quot;:877.6199212598425,&quot;left&quot;:72,&quot;top&quot;:279.25,&quot;width&quot;:1231.5309448818898}"/>
</p:tagLst>
</file>

<file path=ppt/tags/tag14.xml><?xml version="1.0" encoding="utf-8"?>
<p:tagLst xmlns:p="http://schemas.openxmlformats.org/presentationml/2006/main">
  <p:tag name="KSO_WM_DIAGRAM_VIRTUALLY_FRAME" val="{&quot;height&quot;:877.6199212598425,&quot;left&quot;:72,&quot;top&quot;:279.25,&quot;width&quot;:1231.5309448818898}"/>
</p:tagLst>
</file>

<file path=ppt/tags/tag15.xml><?xml version="1.0" encoding="utf-8"?>
<p:tagLst xmlns:p="http://schemas.openxmlformats.org/presentationml/2006/main">
  <p:tag name="KSO_WM_DIAGRAM_VIRTUALLY_FRAME" val="{&quot;height&quot;:877.6199212598425,&quot;left&quot;:72,&quot;top&quot;:279.25,&quot;width&quot;:1231.5309448818898}"/>
</p:tagLst>
</file>

<file path=ppt/tags/tag16.xml><?xml version="1.0" encoding="utf-8"?>
<p:tagLst xmlns:p="http://schemas.openxmlformats.org/presentationml/2006/main">
  <p:tag name="KSO_WM_DIAGRAM_VIRTUALLY_FRAME" val="{&quot;height&quot;:877.6199212598425,&quot;left&quot;:72,&quot;top&quot;:279.25,&quot;width&quot;:1231.5309448818898}"/>
</p:tagLst>
</file>

<file path=ppt/tags/tag17.xml><?xml version="1.0" encoding="utf-8"?>
<p:tagLst xmlns:p="http://schemas.openxmlformats.org/presentationml/2006/main">
  <p:tag name="KSO_WM_DIAGRAM_VIRTUALLY_FRAME" val="{&quot;height&quot;:385.51204724409456,&quot;left&quot;:108.73448818897637,&quot;top&quot;:299.6,&quot;width&quot;:1222.5310236220473}"/>
</p:tagLst>
</file>

<file path=ppt/tags/tag18.xml><?xml version="1.0" encoding="utf-8"?>
<p:tagLst xmlns:p="http://schemas.openxmlformats.org/presentationml/2006/main">
  <p:tag name="KSO_WM_DIAGRAM_VIRTUALLY_FRAME" val="{&quot;height&quot;:385.51204724409456,&quot;left&quot;:108.73448818897637,&quot;top&quot;:299.6,&quot;width&quot;:1222.5310236220473}"/>
</p:tagLst>
</file>

<file path=ppt/tags/tag19.xml><?xml version="1.0" encoding="utf-8"?>
<p:tagLst xmlns:p="http://schemas.openxmlformats.org/presentationml/2006/main">
  <p:tag name="KSO_WM_DIAGRAM_VIRTUALLY_FRAME" val="{&quot;height&quot;:385.51204724409456,&quot;left&quot;:108.73448818897637,&quot;top&quot;:299.6,&quot;width&quot;:1222.5310236220473}"/>
</p:tagLst>
</file>

<file path=ppt/tags/tag20.xml><?xml version="1.0" encoding="utf-8"?>
<p:tagLst xmlns:p="http://schemas.openxmlformats.org/presentationml/2006/main">
  <p:tag name="KSO_WM_DIAGRAM_VIRTUALLY_FRAME" val="{&quot;height&quot;:385.51204724409456,&quot;left&quot;:108.73448818897637,&quot;top&quot;:299.6,&quot;width&quot;:1222.5310236220473}"/>
</p:tagLst>
</file>

<file path=ppt/tags/tag21.xml><?xml version="1.0" encoding="utf-8"?>
<p:tagLst xmlns:p="http://schemas.openxmlformats.org/presentationml/2006/main">
  <p:tag name="KSO_WM_DIAGRAM_VIRTUALLY_FRAME" val="{&quot;height&quot;:385.51204724409456,&quot;left&quot;:108.73448818897637,&quot;top&quot;:299.6,&quot;width&quot;:1222.5310236220473}"/>
</p:tagLst>
</file>

<file path=ppt/tags/tag22.xml><?xml version="1.0" encoding="utf-8"?>
<p:tagLst xmlns:p="http://schemas.openxmlformats.org/presentationml/2006/main">
  <p:tag name="KSO_WM_DIAGRAM_VIRTUALLY_FRAME" val="{&quot;height&quot;:385.51204724409456,&quot;left&quot;:108.73448818897637,&quot;top&quot;:299.6,&quot;width&quot;:1222.5310236220473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4292</Words>
  <Application>WPS Presentation</Application>
  <PresentationFormat>On-screen Show (4:3)</PresentationFormat>
  <Paragraphs>156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Arial</vt:lpstr>
      <vt:lpstr>SimSun</vt:lpstr>
      <vt:lpstr>Wingdings</vt:lpstr>
      <vt:lpstr>TT Ramillas</vt:lpstr>
      <vt:lpstr>TT Interphases</vt:lpstr>
      <vt:lpstr>TT Interphases Bold</vt:lpstr>
      <vt:lpstr>Microsoft YaHei</vt:lpstr>
      <vt:lpstr>Arial Unicode MS</vt:lpstr>
      <vt:lpstr>Calibri</vt:lpstr>
      <vt:lpstr>Arial</vt:lpstr>
      <vt:lpstr>TT Ramillas Bold</vt:lpstr>
      <vt:lpstr>BatangChe</vt:lpstr>
      <vt:lpstr>Segoe Print</vt:lpstr>
      <vt:lpstr>Calibri Light</vt:lpstr>
      <vt:lpstr>Algerian</vt:lpstr>
      <vt:lpstr>Agency FB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Puzzle</dc:title>
  <dc:creator/>
  <dc:description>Presentation - Puzzle</dc:description>
  <cp:lastModifiedBy>Himakesh</cp:lastModifiedBy>
  <cp:revision>6</cp:revision>
  <dcterms:created xsi:type="dcterms:W3CDTF">2006-08-16T00:00:00Z</dcterms:created>
  <dcterms:modified xsi:type="dcterms:W3CDTF">2026-02-18T08:35:29Z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175A16BE0F074F26A1E4ABBC273E1702_12</vt:lpwstr>
  </property>
  <property fmtid="{D5CDD505-2E9C-101B-9397-08002B2CF9AE}" pid="3" name="KSOProductBuildVer">
    <vt:lpwstr>1033-12.2.0.23196</vt:lpwstr>
  </property>
</Properties>
</file>